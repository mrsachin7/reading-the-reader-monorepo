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warm and brief. We are [names]. This is our MSc thesis defense. The thesis builds a modular, researcher-operated adaptive reading platform. Today: 25 minutes including a ~7-8 minute live demo, then questions. Hand to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tension is the spine of the whole thesis. Show the two columns: same sentence, larger and more open on the right — easier to read, but if we apply that mid-line and the text reflows, the reader loses their place. So the problem is not WHAT to change, it is changing it WITHOUT breaking flow. Ground the stakes in one line: 2.2B vision impairment, plus dyslexia and ageing.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 not that the prototypes were bad — they proved the idea. The point is the ARCHITECTURE: everything in one codebase, so the only way to run a new condition was to fork. Use the fade-vs-abrupt example to make it tangible: a trivial scientific question that the architecture makes expensive. That friction is exactly what we set out to remove.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deliberate insurance against the most likely challenge to a systems thesis: 'is this just engineering?'. Answer it before it is asked. Design Science Research: the artifact plus the knowledge it embodies is the contribution. State plainly that we argue it is BOTH engineering and research, and that the research lives in the contracts and the evidence that they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columns, not the rows. Everyone senses gaze and records. The two empty columns for everyone else are the ones that matter: context-preserving intervention and pluggable decision logic. Commercial tools (Tobii, EyeLink) record and monitor; PsychoPy/Psychtoolbox script. Only ours is the full row. NOTE: reconcile these exact cells with the Chapter 2 market matrix before the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 artifact with the real product shots. Left: the participant only ever sees text. Right: the researcher console mirrors the participant's live gaze (heat map + saccades) and holds the controls. Then set up the spine of the talk: four research questions — modularity, sensing, context preservation, researcher control. This replaces a boring agenda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claim slide. Four concerns — sensing, analysis, decision, intervention — each a port the core owns. The load-bearing detail: a module receives a SNAPSHOT (a copy) and returns an optional result, so it can neither reach into nor mutate core state. That is what makes it independently replaceable and testable. 'Independently replaceable' now has a precise meaning: swap any implementation behind the same port with zero core changes. And because sensing is defined over gaze samples, the simulated mouse source drives the entire loop without the tracker.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tension honestly: modularity vs speed. An intervention delivered after the moment it was valid is useless. Our answer is NOT to dilute the contracts but to split timescales — gaze on a thin, direct real-time channel; the modular pipeline runs only when the analysed state changes. And the commit is two-phase: validate, then commit at a controlled boundary with an anchor that restores the reader's position. Point at the sequence diagram: gaze in, advisory approval, commit, adapted text mirrored back to both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mechanism, two concerns (analysis and decision). External provider attaches over a uniform seam keyed by module identity; no provider → built-in fallback; the loop never notices. The deeper point for RQ4: a spectrum from fully manual, through advisory approve/reject, to autonomous — the modes differ only in WHO resolves the proposal. And every proposal's fate is recorded, so the researcher's control is auditable. Mention the cross-session loop: exported records can fine-tune an external provider that re-attaches through this same seam.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recorded demo and both narrate over it (~7-8 min). The five beats map to the four RQs: two-screen + sensing, advisory control (RQ4), context-preserving commit (RQ3), module swap (RQ1), replay/reproducibility (RQ4). Keep narration tight and let the system speak. Return to this slide, then move to the evidence. Honesty: the demo shows the MECHANISM for one event; the aggregate results are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RQs on one slide. RQ1 is the headline: modularity proven where it is hardest to fake — the boundary is a build-time invariant AND an executable test, a new module is one registration, and THREE external providers connected with zero core changes, one of them wrapping a third party's model. RQ2: the tracker ran at its rated 90 Hz, validity above 92%, and transport latency stayed under the 100 ms budget for every sample. Eight real Tobii-backed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RQ3: with the context-preserving mechanism enabled, BOTH the reading-resume time and the post-intervention regression rate came down. Show the two plots — with vs without preservation. State it plainly as a measured result; we do not over-claim from a single clip. RQ4: every session ran through one readiness-gated console, and crucially every number in the thesis was rebuilt from the exported records alone — that is what makes the platform a research instrument, not just 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research takeaway — give it a clean beat and slow down. Four principles, each earned by the build and the evaluation: (P1) make the boundary a build invariant; (P2) validate the contract from OUTSIDE — the external providers are exactly this; (P3) measure every quality you claim, do not assert it; (P4) separate a change's decision from its commit so it lands at a natural break — that is the context-preserving commit generalised. These outlive this codebase.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limitations, unprompted — this is where maturity is scored and it disarms the censor's best question. Two, stated without softening: the automated decision path was validated in a single run, not at scale; and the restore over-repositions on small reflows (we measured the residual). Then pivot to leverage: because the architecture holds, the AI decision provider, the cross-session learning, and the controlled efficacy study are now configuration, not rewrites. The thing we deliberately left out of scope is now cheap for the next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core claim verbatim and stop — do not trail off. Restate the hook, then the contribution and the four principles. Then thank the room and open for questions. Be ready to jump to the backup slides. Remember: questions are not adversarial; answer the question asked, and where we have a limitation, name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Rehearse this cold — it was answered wrong once before. Our method is I-AOI / dwell-based. Say clearly it is NOT I-DT or I-VT and there is no velocity threshold. Then note the architecture makes the choice swappable behind the analysis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supervisor liked this framing. The line-bias discount adds hysteresis so gaze does not flicker between adjacent lines — a lightweight stand-in for a Kalman filter. Present it as a deliberate, honest simplification and an obvious future-work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pressed on numbers: the hot path does the minimum and never takes the lock; the modular pipeline sits on the control path. Show the RTT distribution; every sample under 100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Markdown is a deliberate constraint, not a shortcut. Reflowable text is what makes adaptation and the anchor-based restore possible; PDF's fixed layout would work against the very mechanism under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reading session uses an invited participant and cannot be cheaply repeated, so the loop is built to survive disturbance. Checkpoints on every state change plus a periodic background worker; all best-effort so the safety net can never itself stop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concrete what an external team must build. We send context (snapshot + analysed signals); they return a proposal (which intervention, what parameters, plus a rationale). The platform stays silent on the algorithm, which is exactly the out-of-scope decision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this is a scope decision aligned with the research questions, which emphasise architecture and runtime feasibility over a human-subjects effect study. The clinical study is future work the platform now makes cheap.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factual. Researcher-operated model, readiness-gated start, separation of participant view from researcher console, and a reproducible record. Defer any formal approval specifics to what is written in the methodology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30F4F"/>
        </a:solidFill>
      </p:bgPr>
    </p:bg>
    <p:spTree>
      <p:nvGrpSpPr>
        <p:cNvPr id="1" name=""/>
        <p:cNvGrpSpPr/>
        <p:nvPr/>
      </p:nvGrpSpPr>
      <p:grpSpPr>
        <a:xfrm>
          <a:off x="0" y="0"/>
          <a:ext cx="0" cy="0"/>
          <a:chOff x="0" y="0"/>
          <a:chExt cx="0" cy="0"/>
        </a:xfrm>
      </p:grpSpPr>
      <p:sp>
        <p:nvSpPr>
          <p:cNvPr id="2" name="Shape 0"/>
          <p:cNvSpPr/>
          <p:nvPr/>
        </p:nvSpPr>
        <p:spPr>
          <a:xfrm>
            <a:off x="9784080" y="-1463040"/>
            <a:ext cx="3840480" cy="3840480"/>
          </a:xfrm>
          <a:prstGeom prst="ellipse">
            <a:avLst/>
          </a:prstGeom>
          <a:solidFill>
            <a:srgbClr val="990000">
              <a:alpha val="22000"/>
            </a:srgbClr>
          </a:solidFill>
          <a:ln/>
        </p:spPr>
      </p:sp>
      <p:sp>
        <p:nvSpPr>
          <p:cNvPr id="3" name="Shape 1"/>
          <p:cNvSpPr/>
          <p:nvPr/>
        </p:nvSpPr>
        <p:spPr>
          <a:xfrm>
            <a:off x="-1280160" y="4754880"/>
            <a:ext cx="3291840" cy="3291840"/>
          </a:xfrm>
          <a:prstGeom prst="ellipse">
            <a:avLst/>
          </a:prstGeom>
          <a:solidFill>
            <a:srgbClr val="990000">
              <a:alpha val="16000"/>
            </a:srgbClr>
          </a:solidFill>
          <a:ln/>
        </p:spPr>
      </p:sp>
      <p:sp>
        <p:nvSpPr>
          <p:cNvPr id="4" name="Text 2"/>
          <p:cNvSpPr/>
          <p:nvPr/>
        </p:nvSpPr>
        <p:spPr>
          <a:xfrm>
            <a:off x="548640" y="1234440"/>
            <a:ext cx="10058400" cy="365760"/>
          </a:xfrm>
          <a:prstGeom prst="rect">
            <a:avLst/>
          </a:prstGeom>
          <a:noFill/>
          <a:ln/>
        </p:spPr>
        <p:txBody>
          <a:bodyPr wrap="square" lIns="0" tIns="0" rIns="0" bIns="0" rtlCol="0" anchor="ctr"/>
          <a:lstStyle/>
          <a:p>
            <a:pPr indent="0" marL="0">
              <a:buNone/>
            </a:pPr>
            <a:r>
              <a:rPr lang="en-US" sz="1400" b="1" spc="300" kern="0" dirty="0">
                <a:solidFill>
                  <a:srgbClr val="9FB0FF"/>
                </a:solidFill>
                <a:latin typeface="Arial" pitchFamily="34" charset="0"/>
                <a:ea typeface="Arial" pitchFamily="34" charset="-122"/>
                <a:cs typeface="Arial" pitchFamily="34" charset="-120"/>
              </a:rPr>
              <a:t>MSC THESIS DEFENSE  ·  DTU COMPUTE</a:t>
            </a:r>
            <a:endParaRPr lang="en-US" sz="1400" dirty="0"/>
          </a:p>
        </p:txBody>
      </p:sp>
      <p:sp>
        <p:nvSpPr>
          <p:cNvPr id="5" name="Text 3"/>
          <p:cNvSpPr/>
          <p:nvPr/>
        </p:nvSpPr>
        <p:spPr>
          <a:xfrm>
            <a:off x="548640" y="1691640"/>
            <a:ext cx="10972800" cy="1097280"/>
          </a:xfrm>
          <a:prstGeom prst="rect">
            <a:avLst/>
          </a:prstGeom>
          <a:noFill/>
          <a:ln/>
        </p:spPr>
        <p:txBody>
          <a:bodyPr wrap="square" lIns="0" tIns="0" rIns="0" bIns="0" rtlCol="0" anchor="ctr"/>
          <a:lstStyle/>
          <a:p>
            <a:pPr indent="0" marL="0">
              <a:buNone/>
            </a:pPr>
            <a:r>
              <a:rPr lang="en-US" sz="5800" b="1" dirty="0">
                <a:solidFill>
                  <a:srgbClr val="FFFFFF"/>
                </a:solidFill>
                <a:latin typeface="Arial" pitchFamily="34" charset="0"/>
                <a:ea typeface="Arial" pitchFamily="34" charset="-122"/>
                <a:cs typeface="Arial" pitchFamily="34" charset="-120"/>
              </a:rPr>
              <a:t>Reading the Reader</a:t>
            </a:r>
            <a:endParaRPr lang="en-US" sz="5800" dirty="0"/>
          </a:p>
        </p:txBody>
      </p:sp>
      <p:sp>
        <p:nvSpPr>
          <p:cNvPr id="6" name="Text 4"/>
          <p:cNvSpPr/>
          <p:nvPr/>
        </p:nvSpPr>
        <p:spPr>
          <a:xfrm>
            <a:off x="548640" y="2788920"/>
            <a:ext cx="10424160" cy="822960"/>
          </a:xfrm>
          <a:prstGeom prst="rect">
            <a:avLst/>
          </a:prstGeom>
          <a:noFill/>
          <a:ln/>
        </p:spPr>
        <p:txBody>
          <a:bodyPr wrap="square" lIns="0" tIns="0" rIns="0" bIns="0" rtlCol="0" anchor="ctr"/>
          <a:lstStyle/>
          <a:p>
            <a:pPr indent="0" marL="0">
              <a:buNone/>
            </a:pPr>
            <a:r>
              <a:rPr lang="en-US" sz="2300" dirty="0">
                <a:solidFill>
                  <a:srgbClr val="DDE3F2"/>
                </a:solidFill>
                <a:latin typeface="Arial" pitchFamily="34" charset="0"/>
                <a:ea typeface="Arial" pitchFamily="34" charset="-122"/>
                <a:cs typeface="Arial" pitchFamily="34" charset="-120"/>
              </a:rPr>
              <a:t>A Modular, Researcher-Operated Adaptive Reading Platform</a:t>
            </a:r>
            <a:endParaRPr lang="en-US" sz="2300" dirty="0"/>
          </a:p>
        </p:txBody>
      </p:sp>
      <p:sp>
        <p:nvSpPr>
          <p:cNvPr id="7" name="Shape 5"/>
          <p:cNvSpPr/>
          <p:nvPr/>
        </p:nvSpPr>
        <p:spPr>
          <a:xfrm>
            <a:off x="566928" y="3794760"/>
            <a:ext cx="2194560" cy="0"/>
          </a:xfrm>
          <a:prstGeom prst="line">
            <a:avLst/>
          </a:prstGeom>
          <a:noFill/>
          <a:ln w="38100">
            <a:solidFill>
              <a:srgbClr val="990000"/>
            </a:solidFill>
            <a:prstDash val="solid"/>
          </a:ln>
        </p:spPr>
      </p:sp>
      <p:sp>
        <p:nvSpPr>
          <p:cNvPr id="8" name="Text 6"/>
          <p:cNvSpPr/>
          <p:nvPr/>
        </p:nvSpPr>
        <p:spPr>
          <a:xfrm>
            <a:off x="548640" y="4069080"/>
            <a:ext cx="10972800" cy="914400"/>
          </a:xfrm>
          <a:prstGeom prst="rect">
            <a:avLst/>
          </a:prstGeom>
          <a:noFill/>
          <a:ln/>
        </p:spPr>
        <p:txBody>
          <a:bodyPr wrap="square" lIns="0" tIns="0" rIns="0" bIns="0" rtlCol="0" anchor="ctr"/>
          <a:lstStyle/>
          <a:p>
            <a:pPr indent="0" marL="0">
              <a:lnSpc>
                <a:spcPct val="125000"/>
              </a:lnSpc>
              <a:buNone/>
            </a:pPr>
            <a:r>
              <a:rPr lang="en-US" sz="1800" b="1" dirty="0">
                <a:solidFill>
                  <a:srgbClr val="FFFFFF"/>
                </a:solidFill>
                <a:latin typeface="Arial" pitchFamily="34" charset="0"/>
                <a:ea typeface="Arial" pitchFamily="34" charset="-122"/>
                <a:cs typeface="Arial" pitchFamily="34" charset="-120"/>
              </a:rPr>
              <a:t>Dummy Presenter One   ·   Dummy Presenter Two</a:t>
            </a:r>
            <a:endParaRPr lang="en-US" sz="1800" dirty="0"/>
          </a:p>
          <a:p>
            <a:pPr indent="0" marL="0">
              <a:lnSpc>
                <a:spcPct val="125000"/>
              </a:lnSpc>
              <a:buNone/>
            </a:pPr>
            <a:r>
              <a:rPr lang="en-US" sz="1350" dirty="0">
                <a:solidFill>
                  <a:srgbClr val="B9C2DA"/>
                </a:solidFill>
                <a:latin typeface="Arial" pitchFamily="34" charset="0"/>
                <a:ea typeface="Arial" pitchFamily="34" charset="-122"/>
                <a:cs typeface="Arial" pitchFamily="34" charset="-120"/>
              </a:rPr>
              <a:t>Supervisor: [Supervisor Name]   ·   External Censor: [Censor Name]</a:t>
            </a:r>
            <a:endParaRPr lang="en-US" sz="1800" dirty="0"/>
          </a:p>
        </p:txBody>
      </p:sp>
      <p:sp>
        <p:nvSpPr>
          <p:cNvPr id="9" name="Text 7"/>
          <p:cNvSpPr/>
          <p:nvPr/>
        </p:nvSpPr>
        <p:spPr>
          <a:xfrm>
            <a:off x="548640" y="6126480"/>
            <a:ext cx="10972800" cy="365760"/>
          </a:xfrm>
          <a:prstGeom prst="rect">
            <a:avLst/>
          </a:prstGeom>
          <a:noFill/>
          <a:ln/>
        </p:spPr>
        <p:txBody>
          <a:bodyPr wrap="square" lIns="0" tIns="0" rIns="0" bIns="0" rtlCol="0" anchor="ctr"/>
          <a:lstStyle/>
          <a:p>
            <a:pPr indent="0" marL="0">
              <a:buNone/>
            </a:pPr>
            <a:r>
              <a:rPr lang="en-US" sz="1200" dirty="0">
                <a:solidFill>
                  <a:srgbClr val="8E99B5"/>
                </a:solidFill>
                <a:latin typeface="Arial" pitchFamily="34" charset="0"/>
                <a:ea typeface="Arial" pitchFamily="34" charset="-122"/>
                <a:cs typeface="Arial" pitchFamily="34" charset="-120"/>
              </a:rPr>
              <a:t>[Defense date] · [Venue / Room] · Technical University of Denmark</a:t>
            </a:r>
            <a:endParaRPr lang="en-US" sz="1200" dirty="0"/>
          </a:p>
        </p:txBody>
      </p:sp>
      <p:sp>
        <p:nvSpPr>
          <p:cNvPr id="11" name="Text 8"/>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9AA3B2"/>
                </a:solidFill>
                <a:latin typeface="Arial" pitchFamily="34" charset="0"/>
                <a:ea typeface="Arial" pitchFamily="34" charset="-122"/>
                <a:cs typeface="Arial" pitchFamily="34" charset="-120"/>
              </a:rPr>
              <a:t>Reading the Reader · MSc Thesis Defense</a:t>
            </a:r>
            <a:endParaRPr lang="en-US" sz="900" dirty="0"/>
          </a:p>
        </p:txBody>
      </p:sp>
      <p:sp>
        <p:nvSpPr>
          <p:cNvPr id="12" name="Text 9"/>
          <p:cNvSpPr/>
          <p:nvPr/>
        </p:nvSpPr>
        <p:spPr>
          <a:xfrm>
            <a:off x="11091672" y="6473952"/>
            <a:ext cx="548640" cy="274320"/>
          </a:xfrm>
          <a:prstGeom prst="rect">
            <a:avLst/>
          </a:prstGeom>
          <a:noFill/>
          <a:ln/>
        </p:spPr>
        <p:txBody>
          <a:bodyPr wrap="square" lIns="0" tIns="0" rIns="0" bIns="0" rtlCol="0" anchor="ctr"/>
          <a:lstStyle/>
          <a:p>
            <a:pPr algn="r" indent="0" marL="0">
              <a:buNone/>
            </a:pPr>
            <a:r>
              <a:rPr lang="en-US" sz="900" dirty="0">
                <a:solidFill>
                  <a:srgbClr val="9AA3B2"/>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20624"/>
            <a:ext cx="11091672" cy="274320"/>
          </a:xfrm>
          <a:prstGeom prst="rect">
            <a:avLst/>
          </a:prstGeom>
          <a:noFill/>
          <a:ln/>
        </p:spPr>
        <p:txBody>
          <a:bodyPr wrap="square" lIns="0" tIns="0" rIns="0" bIns="0" rtlCol="0" anchor="ctr"/>
          <a:lstStyle/>
          <a:p>
            <a:pPr indent="0" marL="0">
              <a:buNone/>
            </a:pPr>
            <a:r>
              <a:rPr lang="en-US" sz="1250" b="1" spc="250" kern="0" dirty="0">
                <a:solidFill>
                  <a:srgbClr val="990000"/>
                </a:solidFill>
                <a:latin typeface="Arial" pitchFamily="34" charset="0"/>
                <a:ea typeface="Arial" pitchFamily="34" charset="-122"/>
                <a:cs typeface="Arial" pitchFamily="34" charset="-120"/>
              </a:rPr>
              <a:t>THE PROBLEM</a:t>
            </a:r>
            <a:endParaRPr lang="en-US" sz="1250" dirty="0"/>
          </a:p>
        </p:txBody>
      </p:sp>
      <p:sp>
        <p:nvSpPr>
          <p:cNvPr id="3" name="Text 1"/>
          <p:cNvSpPr/>
          <p:nvPr/>
        </p:nvSpPr>
        <p:spPr>
          <a:xfrm>
            <a:off x="548640" y="676656"/>
            <a:ext cx="11091672" cy="777240"/>
          </a:xfrm>
          <a:prstGeom prst="rect">
            <a:avLst/>
          </a:prstGeom>
          <a:noFill/>
          <a:ln/>
        </p:spPr>
        <p:txBody>
          <a:bodyPr wrap="square" lIns="0" tIns="0" rIns="0" bIns="0" rtlCol="0" anchor="t"/>
          <a:lstStyle/>
          <a:p>
            <a:pPr indent="0" marL="0">
              <a:lnSpc>
                <a:spcPct val="98000"/>
              </a:lnSpc>
              <a:buNone/>
            </a:pPr>
            <a:r>
              <a:rPr lang="en-US" sz="2900" b="1" dirty="0">
                <a:solidFill>
                  <a:srgbClr val="1A1A1A"/>
                </a:solidFill>
                <a:latin typeface="Arial" pitchFamily="34" charset="0"/>
                <a:ea typeface="Arial" pitchFamily="34" charset="-122"/>
                <a:cs typeface="Arial" pitchFamily="34" charset="-120"/>
              </a:rPr>
              <a:t>Adapting text can cost the reader their place</a:t>
            </a:r>
            <a:endParaRPr lang="en-US" sz="2900" dirty="0"/>
          </a:p>
        </p:txBody>
      </p:sp>
      <p:sp>
        <p:nvSpPr>
          <p:cNvPr id="4" name="Text 2"/>
          <p:cNvSpPr/>
          <p:nvPr/>
        </p:nvSpPr>
        <p:spPr>
          <a:xfrm>
            <a:off x="548640" y="1627632"/>
            <a:ext cx="11091672" cy="868680"/>
          </a:xfrm>
          <a:prstGeom prst="rect">
            <a:avLst/>
          </a:prstGeom>
          <a:noFill/>
          <a:ln/>
        </p:spPr>
        <p:txBody>
          <a:bodyPr wrap="square" lIns="0" tIns="0" rIns="0" bIns="0" rtlCol="0" anchor="ctr"/>
          <a:lstStyle/>
          <a:p>
            <a:pPr indent="0" marL="0">
              <a:lnSpc>
                <a:spcPct val="108000"/>
              </a:lnSpc>
              <a:buNone/>
            </a:pPr>
            <a:r>
              <a:rPr lang="en-US" sz="1500" dirty="0">
                <a:solidFill>
                  <a:srgbClr val="1A1A1A"/>
                </a:solidFill>
                <a:latin typeface="Arial" pitchFamily="34" charset="0"/>
                <a:ea typeface="Arial" pitchFamily="34" charset="-122"/>
                <a:cs typeface="Arial" pitchFamily="34" charset="-120"/>
              </a:rPr>
              <a:t>Digital text can be reshaped as it is read, and eye tracking reveals how a reader is coping. But the same typographic change applied at the wrong moment forces the reader to start the line again. The central challenge is changing the text without breaking the reading flow it is meant to protect.</a:t>
            </a:r>
            <a:endParaRPr lang="en-US" sz="1500" dirty="0"/>
          </a:p>
        </p:txBody>
      </p:sp>
      <p:sp>
        <p:nvSpPr>
          <p:cNvPr id="5" name="Shape 3"/>
          <p:cNvSpPr/>
          <p:nvPr/>
        </p:nvSpPr>
        <p:spPr>
          <a:xfrm>
            <a:off x="548640" y="2788920"/>
            <a:ext cx="5074920" cy="2606040"/>
          </a:xfrm>
          <a:prstGeom prst="roundRect">
            <a:avLst>
              <a:gd name="adj" fmla="val 2456"/>
            </a:avLst>
          </a:prstGeom>
          <a:solidFill>
            <a:srgbClr val="F4F5F7"/>
          </a:solidFill>
          <a:ln w="12700">
            <a:solidFill>
              <a:srgbClr val="D6DAE2"/>
            </a:solidFill>
            <a:prstDash val="solid"/>
          </a:ln>
        </p:spPr>
      </p:sp>
      <p:sp>
        <p:nvSpPr>
          <p:cNvPr id="6" name="Text 4"/>
          <p:cNvSpPr/>
          <p:nvPr/>
        </p:nvSpPr>
        <p:spPr>
          <a:xfrm>
            <a:off x="822960" y="2990088"/>
            <a:ext cx="4526280" cy="274320"/>
          </a:xfrm>
          <a:prstGeom prst="rect">
            <a:avLst/>
          </a:prstGeom>
          <a:noFill/>
          <a:ln/>
        </p:spPr>
        <p:txBody>
          <a:bodyPr wrap="square" lIns="0" tIns="0" rIns="0" bIns="0" rtlCol="0" anchor="ctr"/>
          <a:lstStyle/>
          <a:p>
            <a:pPr indent="0" marL="0">
              <a:buNone/>
            </a:pPr>
            <a:r>
              <a:rPr lang="en-US" sz="1150" b="1" spc="150" kern="0" dirty="0">
                <a:solidFill>
                  <a:srgbClr val="6B7280"/>
                </a:solidFill>
                <a:latin typeface="Arial" pitchFamily="34" charset="0"/>
                <a:ea typeface="Arial" pitchFamily="34" charset="-122"/>
                <a:cs typeface="Arial" pitchFamily="34" charset="-120"/>
              </a:rPr>
              <a:t>DEFAULT TYPOGRAPHY</a:t>
            </a:r>
            <a:endParaRPr lang="en-US" sz="1150" dirty="0"/>
          </a:p>
        </p:txBody>
      </p:sp>
      <p:sp>
        <p:nvSpPr>
          <p:cNvPr id="7" name="Text 5"/>
          <p:cNvSpPr/>
          <p:nvPr/>
        </p:nvSpPr>
        <p:spPr>
          <a:xfrm>
            <a:off x="822960" y="3355848"/>
            <a:ext cx="4526280" cy="1828800"/>
          </a:xfrm>
          <a:prstGeom prst="rect">
            <a:avLst/>
          </a:prstGeom>
          <a:noFill/>
          <a:ln/>
        </p:spPr>
        <p:txBody>
          <a:bodyPr wrap="square" lIns="0" tIns="0" rIns="0" bIns="0" rtlCol="0" anchor="t"/>
          <a:lstStyle/>
          <a:p>
            <a:pPr indent="0" marL="0">
              <a:lnSpc>
                <a:spcPct val="100000"/>
              </a:lnSpc>
              <a:buNone/>
            </a:pPr>
            <a:r>
              <a:rPr lang="en-US" sz="1300" dirty="0">
                <a:solidFill>
                  <a:srgbClr val="1A1A1A"/>
                </a:solidFill>
                <a:latin typeface="Arial" pitchFamily="34" charset="0"/>
                <a:ea typeface="Arial" pitchFamily="34" charset="-122"/>
                <a:cs typeface="Arial" pitchFamily="34" charset="-120"/>
              </a:rPr>
              <a:t>Reading should feel effortless, yet text that is small, tightly tracked, or densely lined can slow a reader down and increase fatigue.</a:t>
            </a:r>
            <a:endParaRPr lang="en-US" sz="1300" dirty="0"/>
          </a:p>
        </p:txBody>
      </p:sp>
      <p:sp>
        <p:nvSpPr>
          <p:cNvPr id="8" name="Shape 6"/>
          <p:cNvSpPr/>
          <p:nvPr/>
        </p:nvSpPr>
        <p:spPr>
          <a:xfrm>
            <a:off x="6537960" y="2788920"/>
            <a:ext cx="5074920" cy="2606040"/>
          </a:xfrm>
          <a:prstGeom prst="roundRect">
            <a:avLst>
              <a:gd name="adj" fmla="val 2456"/>
            </a:avLst>
          </a:prstGeom>
          <a:solidFill>
            <a:srgbClr val="F6ECEC"/>
          </a:solidFill>
          <a:ln w="12700">
            <a:solidFill>
              <a:srgbClr val="E3C9C9"/>
            </a:solidFill>
            <a:prstDash val="solid"/>
          </a:ln>
          <a:effectLst>
            <a:outerShdw sx="100000" sy="100000" kx="0" ky="0" algn="bl" rotWithShape="0" blurRad="88900" dist="38100" dir="5400000">
              <a:srgbClr val="000000">
                <a:alpha val="12000"/>
              </a:srgbClr>
            </a:outerShdw>
          </a:effectLst>
        </p:spPr>
      </p:sp>
      <p:sp>
        <p:nvSpPr>
          <p:cNvPr id="9" name="Text 7"/>
          <p:cNvSpPr/>
          <p:nvPr/>
        </p:nvSpPr>
        <p:spPr>
          <a:xfrm>
            <a:off x="6812280" y="2990088"/>
            <a:ext cx="4526280" cy="274320"/>
          </a:xfrm>
          <a:prstGeom prst="rect">
            <a:avLst/>
          </a:prstGeom>
          <a:noFill/>
          <a:ln/>
        </p:spPr>
        <p:txBody>
          <a:bodyPr wrap="square" lIns="0" tIns="0" rIns="0" bIns="0" rtlCol="0" anchor="ctr"/>
          <a:lstStyle/>
          <a:p>
            <a:pPr indent="0" marL="0">
              <a:buNone/>
            </a:pPr>
            <a:r>
              <a:rPr lang="en-US" sz="1150" b="1" spc="150" kern="0" dirty="0">
                <a:solidFill>
                  <a:srgbClr val="990000"/>
                </a:solidFill>
                <a:latin typeface="Arial" pitchFamily="34" charset="0"/>
                <a:ea typeface="Arial" pitchFamily="34" charset="-122"/>
                <a:cs typeface="Arial" pitchFamily="34" charset="-120"/>
              </a:rPr>
              <a:t>ADAPTED TYPOGRAPHY</a:t>
            </a:r>
            <a:endParaRPr lang="en-US" sz="1150" dirty="0"/>
          </a:p>
        </p:txBody>
      </p:sp>
      <p:sp>
        <p:nvSpPr>
          <p:cNvPr id="10" name="Text 8"/>
          <p:cNvSpPr/>
          <p:nvPr/>
        </p:nvSpPr>
        <p:spPr>
          <a:xfrm>
            <a:off x="6812280" y="3337560"/>
            <a:ext cx="4526280" cy="1920240"/>
          </a:xfrm>
          <a:prstGeom prst="rect">
            <a:avLst/>
          </a:prstGeom>
          <a:noFill/>
          <a:ln/>
        </p:spPr>
        <p:txBody>
          <a:bodyPr wrap="square" lIns="0" tIns="0" rIns="0" bIns="0" rtlCol="0" anchor="t"/>
          <a:lstStyle/>
          <a:p>
            <a:pPr indent="0" marL="0">
              <a:lnSpc>
                <a:spcPct val="145000"/>
              </a:lnSpc>
              <a:buNone/>
            </a:pPr>
            <a:r>
              <a:rPr lang="en-US" sz="1700" spc="120" kern="0" dirty="0">
                <a:solidFill>
                  <a:srgbClr val="1A1A1A"/>
                </a:solidFill>
                <a:latin typeface="Arial" pitchFamily="34" charset="0"/>
                <a:ea typeface="Arial" pitchFamily="34" charset="-122"/>
                <a:cs typeface="Arial" pitchFamily="34" charset="-120"/>
              </a:rPr>
              <a:t>Reading should feel effortless, yet text that is small, tightly tracked, or densely lined can slow a reader down.</a:t>
            </a:r>
            <a:endParaRPr lang="en-US" sz="1700" dirty="0"/>
          </a:p>
        </p:txBody>
      </p:sp>
      <p:sp>
        <p:nvSpPr>
          <p:cNvPr id="11" name="Shape 9"/>
          <p:cNvSpPr/>
          <p:nvPr/>
        </p:nvSpPr>
        <p:spPr>
          <a:xfrm>
            <a:off x="5733288" y="4091940"/>
            <a:ext cx="694944" cy="0"/>
          </a:xfrm>
          <a:prstGeom prst="line">
            <a:avLst/>
          </a:prstGeom>
          <a:noFill/>
          <a:ln w="31750">
            <a:solidFill>
              <a:srgbClr val="990000"/>
            </a:solidFill>
            <a:prstDash val="solid"/>
            <a:tailEnd type="triangle"/>
          </a:ln>
        </p:spPr>
      </p:sp>
      <p:sp>
        <p:nvSpPr>
          <p:cNvPr id="12" name="Text 10"/>
          <p:cNvSpPr/>
          <p:nvPr/>
        </p:nvSpPr>
        <p:spPr>
          <a:xfrm>
            <a:off x="5641848" y="3525012"/>
            <a:ext cx="877824" cy="457200"/>
          </a:xfrm>
          <a:prstGeom prst="rect">
            <a:avLst/>
          </a:prstGeom>
          <a:noFill/>
          <a:ln/>
        </p:spPr>
        <p:txBody>
          <a:bodyPr wrap="square" lIns="0" tIns="0" rIns="0" bIns="0" rtlCol="0" anchor="ctr"/>
          <a:lstStyle/>
          <a:p>
            <a:pPr algn="ctr" indent="0" marL="0">
              <a:buNone/>
            </a:pPr>
            <a:r>
              <a:rPr lang="en-US" sz="900" i="1" dirty="0">
                <a:solidFill>
                  <a:srgbClr val="6B7280"/>
                </a:solidFill>
                <a:latin typeface="Arial" pitchFamily="34" charset="0"/>
                <a:ea typeface="Arial" pitchFamily="34" charset="-122"/>
                <a:cs typeface="Arial" pitchFamily="34" charset="-120"/>
              </a:rPr>
              <a:t>adaptive</a:t>
            </a:r>
            <a:endParaRPr lang="en-US" sz="900" dirty="0"/>
          </a:p>
          <a:p>
            <a:pPr algn="ctr" indent="0" marL="0">
              <a:buNone/>
            </a:pPr>
            <a:r>
              <a:rPr lang="en-US" sz="900" i="1" dirty="0">
                <a:solidFill>
                  <a:srgbClr val="6B7280"/>
                </a:solidFill>
                <a:latin typeface="Arial" pitchFamily="34" charset="0"/>
                <a:ea typeface="Arial" pitchFamily="34" charset="-122"/>
                <a:cs typeface="Arial" pitchFamily="34" charset="-120"/>
              </a:rPr>
              <a:t>intervention</a:t>
            </a:r>
            <a:endParaRPr lang="en-US" sz="900" dirty="0"/>
          </a:p>
        </p:txBody>
      </p:sp>
      <p:sp>
        <p:nvSpPr>
          <p:cNvPr id="13" name="Text 11"/>
          <p:cNvSpPr/>
          <p:nvPr/>
        </p:nvSpPr>
        <p:spPr>
          <a:xfrm>
            <a:off x="548640" y="5715000"/>
            <a:ext cx="11091672" cy="457200"/>
          </a:xfrm>
          <a:prstGeom prst="rect">
            <a:avLst/>
          </a:prstGeom>
          <a:noFill/>
          <a:ln/>
        </p:spPr>
        <p:txBody>
          <a:bodyPr wrap="square" lIns="0" tIns="0" rIns="0" bIns="0" rtlCol="0" anchor="ctr"/>
          <a:lstStyle/>
          <a:p>
            <a:pPr indent="0" marL="0">
              <a:buNone/>
            </a:pPr>
            <a:r>
              <a:rPr lang="en-US" sz="1150" i="1" dirty="0">
                <a:solidFill>
                  <a:srgbClr val="6B7280"/>
                </a:solidFill>
                <a:latin typeface="Arial" pitchFamily="34" charset="0"/>
                <a:ea typeface="Arial" pitchFamily="34" charset="-122"/>
                <a:cs typeface="Arial" pitchFamily="34" charset="-120"/>
              </a:rPr>
              <a:t>At least 2.2 billion people live with a vision impairment (WHO); reading difficulty also spans dyslexia and ageing. Adaptive typography can help — if it never costs the reader their place.</a:t>
            </a:r>
            <a:endParaRPr lang="en-US" sz="1150" dirty="0"/>
          </a:p>
        </p:txBody>
      </p:sp>
      <p:sp>
        <p:nvSpPr>
          <p:cNvPr id="15" name="Text 12"/>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Reading the Reader · MSc Thesis Defense</a:t>
            </a:r>
            <a:endParaRPr lang="en-US" sz="900" dirty="0"/>
          </a:p>
        </p:txBody>
      </p:sp>
      <p:sp>
        <p:nvSpPr>
          <p:cNvPr id="16" name="Text 13"/>
          <p:cNvSpPr/>
          <p:nvPr/>
        </p:nvSpPr>
        <p:spPr>
          <a:xfrm>
            <a:off x="11091672" y="6473952"/>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20624"/>
            <a:ext cx="11091672" cy="274320"/>
          </a:xfrm>
          <a:prstGeom prst="rect">
            <a:avLst/>
          </a:prstGeom>
          <a:noFill/>
          <a:ln/>
        </p:spPr>
        <p:txBody>
          <a:bodyPr wrap="square" lIns="0" tIns="0" rIns="0" bIns="0" rtlCol="0" anchor="ctr"/>
          <a:lstStyle/>
          <a:p>
            <a:pPr indent="0" marL="0">
              <a:buNone/>
            </a:pPr>
            <a:r>
              <a:rPr lang="en-US" sz="1250" b="1" spc="250" kern="0" dirty="0">
                <a:solidFill>
                  <a:srgbClr val="990000"/>
                </a:solidFill>
                <a:latin typeface="Arial" pitchFamily="34" charset="0"/>
                <a:ea typeface="Arial" pitchFamily="34" charset="-122"/>
                <a:cs typeface="Arial" pitchFamily="34" charset="-120"/>
              </a:rPr>
              <a:t>WHY IT MATTERS</a:t>
            </a:r>
            <a:endParaRPr lang="en-US" sz="1250" dirty="0"/>
          </a:p>
        </p:txBody>
      </p:sp>
      <p:sp>
        <p:nvSpPr>
          <p:cNvPr id="3" name="Text 1"/>
          <p:cNvSpPr/>
          <p:nvPr/>
        </p:nvSpPr>
        <p:spPr>
          <a:xfrm>
            <a:off x="548640" y="676656"/>
            <a:ext cx="11091672" cy="777240"/>
          </a:xfrm>
          <a:prstGeom prst="rect">
            <a:avLst/>
          </a:prstGeom>
          <a:noFill/>
          <a:ln/>
        </p:spPr>
        <p:txBody>
          <a:bodyPr wrap="square" lIns="0" tIns="0" rIns="0" bIns="0" rtlCol="0" anchor="t"/>
          <a:lstStyle/>
          <a:p>
            <a:pPr indent="0" marL="0">
              <a:lnSpc>
                <a:spcPct val="98000"/>
              </a:lnSpc>
              <a:buNone/>
            </a:pPr>
            <a:r>
              <a:rPr lang="en-US" sz="2900" b="1" dirty="0">
                <a:solidFill>
                  <a:srgbClr val="1A1A1A"/>
                </a:solidFill>
                <a:latin typeface="Arial" pitchFamily="34" charset="0"/>
                <a:ea typeface="Arial" pitchFamily="34" charset="-122"/>
                <a:cs typeface="Arial" pitchFamily="34" charset="-120"/>
              </a:rPr>
              <a:t>Prior prototypes worked — but each was a monolithic fork</a:t>
            </a:r>
            <a:endParaRPr lang="en-US" sz="2900" dirty="0"/>
          </a:p>
        </p:txBody>
      </p:sp>
      <p:sp>
        <p:nvSpPr>
          <p:cNvPr id="4" name="Text 2"/>
          <p:cNvSpPr/>
          <p:nvPr/>
        </p:nvSpPr>
        <p:spPr>
          <a:xfrm>
            <a:off x="548640" y="1627632"/>
            <a:ext cx="5486400" cy="2377440"/>
          </a:xfrm>
          <a:prstGeom prst="rect">
            <a:avLst/>
          </a:prstGeom>
          <a:noFill/>
          <a:ln/>
        </p:spPr>
        <p:txBody>
          <a:bodyPr wrap="square" rtlCol="0" anchor="t"/>
          <a:lstStyle/>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Earlier Reading the Reader prototypes proved gaze-driven adaptation is achievable.</a:t>
            </a:r>
            <a:endParaRPr lang="en-US" sz="1450" dirty="0"/>
          </a:p>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But sensing, decision logic, and the reading interface shared one codebase.</a:t>
            </a:r>
            <a:endParaRPr lang="en-US" sz="1450" dirty="0"/>
          </a:p>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Every new study extended the system by copying the previous frontend wholesale.</a:t>
            </a:r>
            <a:endParaRPr lang="en-US" sz="1450" dirty="0"/>
          </a:p>
        </p:txBody>
      </p:sp>
      <p:sp>
        <p:nvSpPr>
          <p:cNvPr id="5" name="Shape 3"/>
          <p:cNvSpPr/>
          <p:nvPr/>
        </p:nvSpPr>
        <p:spPr>
          <a:xfrm>
            <a:off x="548640" y="4572000"/>
            <a:ext cx="5486400" cy="1600200"/>
          </a:xfrm>
          <a:prstGeom prst="roundRect">
            <a:avLst>
              <a:gd name="adj" fmla="val 4000"/>
            </a:avLst>
          </a:prstGeom>
          <a:solidFill>
            <a:srgbClr val="F6ECEC"/>
          </a:solidFill>
          <a:ln w="12700">
            <a:solidFill>
              <a:srgbClr val="E3C9C9"/>
            </a:solidFill>
            <a:prstDash val="solid"/>
          </a:ln>
        </p:spPr>
      </p:sp>
      <p:sp>
        <p:nvSpPr>
          <p:cNvPr id="6" name="Text 4"/>
          <p:cNvSpPr/>
          <p:nvPr/>
        </p:nvSpPr>
        <p:spPr>
          <a:xfrm>
            <a:off x="822960" y="4754880"/>
            <a:ext cx="4937760" cy="1280160"/>
          </a:xfrm>
          <a:prstGeom prst="rect">
            <a:avLst/>
          </a:prstGeom>
          <a:noFill/>
          <a:ln/>
        </p:spPr>
        <p:txBody>
          <a:bodyPr wrap="square" lIns="0" tIns="0" rIns="0" bIns="0" rtlCol="0" anchor="t"/>
          <a:lstStyle/>
          <a:p>
            <a:pPr indent="0" marL="0">
              <a:lnSpc>
                <a:spcPct val="105000"/>
              </a:lnSpc>
              <a:buNone/>
            </a:pPr>
            <a:r>
              <a:rPr lang="en-US" sz="1300" b="1" dirty="0">
                <a:solidFill>
                  <a:srgbClr val="990000"/>
                </a:solidFill>
                <a:latin typeface="Arial" pitchFamily="34" charset="0"/>
                <a:ea typeface="Arial" pitchFamily="34" charset="-122"/>
                <a:cs typeface="Arial" pitchFamily="34" charset="-120"/>
              </a:rPr>
              <a:t>Concrete cost.  </a:t>
            </a:r>
            <a:pPr indent="0" marL="0">
              <a:lnSpc>
                <a:spcPct val="105000"/>
              </a:lnSpc>
              <a:buNone/>
            </a:pPr>
            <a:r>
              <a:rPr lang="en-US" sz="1300" dirty="0">
                <a:solidFill>
                  <a:srgbClr val="1A1A1A"/>
                </a:solidFill>
                <a:latin typeface="Arial" pitchFamily="34" charset="0"/>
                <a:ea typeface="Arial" pitchFamily="34" charset="-122"/>
                <a:cs typeface="Arial" pitchFamily="34" charset="-120"/>
              </a:rPr>
              <a:t>Testing whether fading a change in is less disruptive than applying it abruptly means editing core code and maintaining two divergent forks. A scientifically trivial question made expensive by the architecture.</a:t>
            </a:r>
            <a:endParaRPr lang="en-US" sz="1300" dirty="0"/>
          </a:p>
        </p:txBody>
      </p:sp>
      <p:sp>
        <p:nvSpPr>
          <p:cNvPr id="7" name="Shape 5"/>
          <p:cNvSpPr/>
          <p:nvPr/>
        </p:nvSpPr>
        <p:spPr>
          <a:xfrm>
            <a:off x="6583680" y="1627632"/>
            <a:ext cx="5056632" cy="1508760"/>
          </a:xfrm>
          <a:prstGeom prst="roundRect">
            <a:avLst>
              <a:gd name="adj" fmla="val 4242"/>
            </a:avLst>
          </a:prstGeom>
          <a:solidFill>
            <a:srgbClr val="ECEEF4"/>
          </a:solidFill>
          <a:ln w="12700">
            <a:solidFill>
              <a:srgbClr val="D6DAE2"/>
            </a:solidFill>
            <a:prstDash val="solid"/>
          </a:ln>
        </p:spPr>
      </p:sp>
      <p:sp>
        <p:nvSpPr>
          <p:cNvPr id="8" name="Text 6"/>
          <p:cNvSpPr/>
          <p:nvPr/>
        </p:nvSpPr>
        <p:spPr>
          <a:xfrm>
            <a:off x="6858000" y="1792224"/>
            <a:ext cx="4507992" cy="274320"/>
          </a:xfrm>
          <a:prstGeom prst="rect">
            <a:avLst/>
          </a:prstGeom>
          <a:noFill/>
          <a:ln/>
        </p:spPr>
        <p:txBody>
          <a:bodyPr wrap="square" lIns="0" tIns="0" rIns="0" bIns="0" rtlCol="0" anchor="ctr"/>
          <a:lstStyle/>
          <a:p>
            <a:pPr indent="0" marL="0">
              <a:buNone/>
            </a:pPr>
            <a:r>
              <a:rPr lang="en-US" sz="1100" b="1" spc="150" kern="0" dirty="0">
                <a:solidFill>
                  <a:srgbClr val="030F4F"/>
                </a:solidFill>
                <a:latin typeface="Arial" pitchFamily="34" charset="0"/>
                <a:ea typeface="Arial" pitchFamily="34" charset="-122"/>
                <a:cs typeface="Arial" pitchFamily="34" charset="-120"/>
              </a:rPr>
              <a:t>ONE TANGLED CODEBASE</a:t>
            </a:r>
            <a:endParaRPr lang="en-US" sz="1100" dirty="0"/>
          </a:p>
        </p:txBody>
      </p:sp>
      <p:sp>
        <p:nvSpPr>
          <p:cNvPr id="9" name="Shape 7"/>
          <p:cNvSpPr/>
          <p:nvPr/>
        </p:nvSpPr>
        <p:spPr>
          <a:xfrm>
            <a:off x="6858000" y="2194560"/>
            <a:ext cx="1380744" cy="713232"/>
          </a:xfrm>
          <a:prstGeom prst="roundRect">
            <a:avLst>
              <a:gd name="adj" fmla="val 6410"/>
            </a:avLst>
          </a:prstGeom>
          <a:solidFill>
            <a:srgbClr val="FFFFFF"/>
          </a:solidFill>
          <a:ln w="12700">
            <a:solidFill>
              <a:srgbClr val="030F4F"/>
            </a:solidFill>
            <a:prstDash val="dash"/>
          </a:ln>
        </p:spPr>
      </p:sp>
      <p:sp>
        <p:nvSpPr>
          <p:cNvPr id="10" name="Text 8"/>
          <p:cNvSpPr/>
          <p:nvPr/>
        </p:nvSpPr>
        <p:spPr>
          <a:xfrm>
            <a:off x="6858000" y="2194560"/>
            <a:ext cx="1380744" cy="713232"/>
          </a:xfrm>
          <a:prstGeom prst="rect">
            <a:avLst/>
          </a:prstGeom>
          <a:noFill/>
          <a:ln/>
        </p:spPr>
        <p:txBody>
          <a:bodyPr wrap="square" lIns="0" tIns="0" rIns="0" bIns="0" rtlCol="0" anchor="ctr"/>
          <a:lstStyle/>
          <a:p>
            <a:pPr algn="ctr" indent="0" marL="0">
              <a:buNone/>
            </a:pPr>
            <a:r>
              <a:rPr lang="en-US" sz="1150" b="1" dirty="0">
                <a:solidFill>
                  <a:srgbClr val="030F4F"/>
                </a:solidFill>
                <a:latin typeface="Arial" pitchFamily="34" charset="0"/>
                <a:ea typeface="Arial" pitchFamily="34" charset="-122"/>
                <a:cs typeface="Arial" pitchFamily="34" charset="-120"/>
              </a:rPr>
              <a:t>Sensing</a:t>
            </a:r>
            <a:endParaRPr lang="en-US" sz="1150" dirty="0"/>
          </a:p>
        </p:txBody>
      </p:sp>
      <p:sp>
        <p:nvSpPr>
          <p:cNvPr id="11" name="Shape 9"/>
          <p:cNvSpPr/>
          <p:nvPr/>
        </p:nvSpPr>
        <p:spPr>
          <a:xfrm>
            <a:off x="8421624" y="2194560"/>
            <a:ext cx="1380744" cy="713232"/>
          </a:xfrm>
          <a:prstGeom prst="roundRect">
            <a:avLst>
              <a:gd name="adj" fmla="val 6410"/>
            </a:avLst>
          </a:prstGeom>
          <a:solidFill>
            <a:srgbClr val="FFFFFF"/>
          </a:solidFill>
          <a:ln w="12700">
            <a:solidFill>
              <a:srgbClr val="030F4F"/>
            </a:solidFill>
            <a:prstDash val="dash"/>
          </a:ln>
        </p:spPr>
      </p:sp>
      <p:sp>
        <p:nvSpPr>
          <p:cNvPr id="12" name="Text 10"/>
          <p:cNvSpPr/>
          <p:nvPr/>
        </p:nvSpPr>
        <p:spPr>
          <a:xfrm>
            <a:off x="8421624" y="2194560"/>
            <a:ext cx="1380744" cy="713232"/>
          </a:xfrm>
          <a:prstGeom prst="rect">
            <a:avLst/>
          </a:prstGeom>
          <a:noFill/>
          <a:ln/>
        </p:spPr>
        <p:txBody>
          <a:bodyPr wrap="square" lIns="0" tIns="0" rIns="0" bIns="0" rtlCol="0" anchor="ctr"/>
          <a:lstStyle/>
          <a:p>
            <a:pPr algn="ctr" indent="0" marL="0">
              <a:buNone/>
            </a:pPr>
            <a:r>
              <a:rPr lang="en-US" sz="1150" b="1" dirty="0">
                <a:solidFill>
                  <a:srgbClr val="030F4F"/>
                </a:solidFill>
                <a:latin typeface="Arial" pitchFamily="34" charset="0"/>
                <a:ea typeface="Arial" pitchFamily="34" charset="-122"/>
                <a:cs typeface="Arial" pitchFamily="34" charset="-120"/>
              </a:rPr>
              <a:t>Decision logic</a:t>
            </a:r>
            <a:endParaRPr lang="en-US" sz="1150" dirty="0"/>
          </a:p>
        </p:txBody>
      </p:sp>
      <p:sp>
        <p:nvSpPr>
          <p:cNvPr id="13" name="Shape 11"/>
          <p:cNvSpPr/>
          <p:nvPr/>
        </p:nvSpPr>
        <p:spPr>
          <a:xfrm>
            <a:off x="9985248" y="2194560"/>
            <a:ext cx="1380744" cy="713232"/>
          </a:xfrm>
          <a:prstGeom prst="roundRect">
            <a:avLst>
              <a:gd name="adj" fmla="val 6410"/>
            </a:avLst>
          </a:prstGeom>
          <a:solidFill>
            <a:srgbClr val="FFFFFF"/>
          </a:solidFill>
          <a:ln w="12700">
            <a:solidFill>
              <a:srgbClr val="030F4F"/>
            </a:solidFill>
            <a:prstDash val="dash"/>
          </a:ln>
        </p:spPr>
      </p:sp>
      <p:sp>
        <p:nvSpPr>
          <p:cNvPr id="14" name="Text 12"/>
          <p:cNvSpPr/>
          <p:nvPr/>
        </p:nvSpPr>
        <p:spPr>
          <a:xfrm>
            <a:off x="9985248" y="2194560"/>
            <a:ext cx="1380744" cy="713232"/>
          </a:xfrm>
          <a:prstGeom prst="rect">
            <a:avLst/>
          </a:prstGeom>
          <a:noFill/>
          <a:ln/>
        </p:spPr>
        <p:txBody>
          <a:bodyPr wrap="square" lIns="0" tIns="0" rIns="0" bIns="0" rtlCol="0" anchor="ctr"/>
          <a:lstStyle/>
          <a:p>
            <a:pPr algn="ctr" indent="0" marL="0">
              <a:buNone/>
            </a:pPr>
            <a:r>
              <a:rPr lang="en-US" sz="1150" b="1" dirty="0">
                <a:solidFill>
                  <a:srgbClr val="030F4F"/>
                </a:solidFill>
                <a:latin typeface="Arial" pitchFamily="34" charset="0"/>
                <a:ea typeface="Arial" pitchFamily="34" charset="-122"/>
                <a:cs typeface="Arial" pitchFamily="34" charset="-120"/>
              </a:rPr>
              <a:t>Reading UI</a:t>
            </a:r>
            <a:endParaRPr lang="en-US" sz="1150" dirty="0"/>
          </a:p>
        </p:txBody>
      </p:sp>
      <p:sp>
        <p:nvSpPr>
          <p:cNvPr id="15" name="Text 13"/>
          <p:cNvSpPr/>
          <p:nvPr/>
        </p:nvSpPr>
        <p:spPr>
          <a:xfrm>
            <a:off x="6858000" y="2926080"/>
            <a:ext cx="4507992" cy="201168"/>
          </a:xfrm>
          <a:prstGeom prst="rect">
            <a:avLst/>
          </a:prstGeom>
          <a:noFill/>
          <a:ln/>
        </p:spPr>
        <p:txBody>
          <a:bodyPr wrap="square" lIns="0" tIns="0" rIns="0" bIns="0" rtlCol="0" anchor="ctr"/>
          <a:lstStyle/>
          <a:p>
            <a:pPr algn="ctr" indent="0" marL="0">
              <a:buNone/>
            </a:pPr>
            <a:r>
              <a:rPr lang="en-US" sz="950" i="1" dirty="0">
                <a:solidFill>
                  <a:srgbClr val="6B7280"/>
                </a:solidFill>
                <a:latin typeface="Arial" pitchFamily="34" charset="0"/>
                <a:ea typeface="Arial" pitchFamily="34" charset="-122"/>
                <a:cs typeface="Arial" pitchFamily="34" charset="-120"/>
              </a:rPr>
              <a:t>entangled — no seams</a:t>
            </a:r>
            <a:endParaRPr lang="en-US" sz="950" dirty="0"/>
          </a:p>
        </p:txBody>
      </p:sp>
      <p:sp>
        <p:nvSpPr>
          <p:cNvPr id="16" name="Shape 14"/>
          <p:cNvSpPr/>
          <p:nvPr/>
        </p:nvSpPr>
        <p:spPr>
          <a:xfrm>
            <a:off x="9111996" y="3410712"/>
            <a:ext cx="0" cy="292608"/>
          </a:xfrm>
          <a:prstGeom prst="line">
            <a:avLst/>
          </a:prstGeom>
          <a:noFill/>
          <a:ln w="19050">
            <a:solidFill>
              <a:srgbClr val="6B7280"/>
            </a:solidFill>
            <a:prstDash val="solid"/>
            <a:tailEnd type="triangle"/>
          </a:ln>
        </p:spPr>
      </p:sp>
      <p:sp>
        <p:nvSpPr>
          <p:cNvPr id="17" name="Shape 15"/>
          <p:cNvSpPr/>
          <p:nvPr/>
        </p:nvSpPr>
        <p:spPr>
          <a:xfrm>
            <a:off x="6583680" y="3776472"/>
            <a:ext cx="1563624" cy="822960"/>
          </a:xfrm>
          <a:prstGeom prst="roundRect">
            <a:avLst>
              <a:gd name="adj" fmla="val 5556"/>
            </a:avLst>
          </a:prstGeom>
          <a:solidFill>
            <a:srgbClr val="F4F5F7"/>
          </a:solidFill>
          <a:ln w="12700">
            <a:solidFill>
              <a:srgbClr val="D6DAE2"/>
            </a:solidFill>
            <a:prstDash val="solid"/>
          </a:ln>
        </p:spPr>
      </p:sp>
      <p:sp>
        <p:nvSpPr>
          <p:cNvPr id="18" name="Text 16"/>
          <p:cNvSpPr/>
          <p:nvPr/>
        </p:nvSpPr>
        <p:spPr>
          <a:xfrm>
            <a:off x="6583680" y="3776472"/>
            <a:ext cx="1563624" cy="822960"/>
          </a:xfrm>
          <a:prstGeom prst="rect">
            <a:avLst/>
          </a:prstGeom>
          <a:noFill/>
          <a:ln/>
        </p:spPr>
        <p:txBody>
          <a:bodyPr wrap="square" lIns="0" tIns="0" rIns="0" bIns="0"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Study A fork</a:t>
            </a:r>
            <a:endParaRPr lang="en-US" sz="1100" dirty="0"/>
          </a:p>
        </p:txBody>
      </p:sp>
      <p:sp>
        <p:nvSpPr>
          <p:cNvPr id="19" name="Shape 17"/>
          <p:cNvSpPr/>
          <p:nvPr/>
        </p:nvSpPr>
        <p:spPr>
          <a:xfrm>
            <a:off x="8330184" y="3776472"/>
            <a:ext cx="1563624" cy="822960"/>
          </a:xfrm>
          <a:prstGeom prst="roundRect">
            <a:avLst>
              <a:gd name="adj" fmla="val 5556"/>
            </a:avLst>
          </a:prstGeom>
          <a:solidFill>
            <a:srgbClr val="F4F5F7"/>
          </a:solidFill>
          <a:ln w="12700">
            <a:solidFill>
              <a:srgbClr val="D6DAE2"/>
            </a:solidFill>
            <a:prstDash val="solid"/>
          </a:ln>
        </p:spPr>
      </p:sp>
      <p:sp>
        <p:nvSpPr>
          <p:cNvPr id="20" name="Text 18"/>
          <p:cNvSpPr/>
          <p:nvPr/>
        </p:nvSpPr>
        <p:spPr>
          <a:xfrm>
            <a:off x="8330184" y="3776472"/>
            <a:ext cx="1563624" cy="822960"/>
          </a:xfrm>
          <a:prstGeom prst="rect">
            <a:avLst/>
          </a:prstGeom>
          <a:noFill/>
          <a:ln/>
        </p:spPr>
        <p:txBody>
          <a:bodyPr wrap="square" lIns="0" tIns="0" rIns="0" bIns="0"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Study B fork</a:t>
            </a:r>
            <a:endParaRPr lang="en-US" sz="1100" dirty="0"/>
          </a:p>
        </p:txBody>
      </p:sp>
      <p:sp>
        <p:nvSpPr>
          <p:cNvPr id="21" name="Shape 19"/>
          <p:cNvSpPr/>
          <p:nvPr/>
        </p:nvSpPr>
        <p:spPr>
          <a:xfrm>
            <a:off x="10076688" y="3776472"/>
            <a:ext cx="1563624" cy="822960"/>
          </a:xfrm>
          <a:prstGeom prst="roundRect">
            <a:avLst>
              <a:gd name="adj" fmla="val 5556"/>
            </a:avLst>
          </a:prstGeom>
          <a:solidFill>
            <a:srgbClr val="F4F5F7"/>
          </a:solidFill>
          <a:ln w="12700">
            <a:solidFill>
              <a:srgbClr val="D6DAE2"/>
            </a:solidFill>
            <a:prstDash val="solid"/>
          </a:ln>
        </p:spPr>
      </p:sp>
      <p:sp>
        <p:nvSpPr>
          <p:cNvPr id="22" name="Text 20"/>
          <p:cNvSpPr/>
          <p:nvPr/>
        </p:nvSpPr>
        <p:spPr>
          <a:xfrm>
            <a:off x="10076688" y="3776472"/>
            <a:ext cx="1563624" cy="822960"/>
          </a:xfrm>
          <a:prstGeom prst="rect">
            <a:avLst/>
          </a:prstGeom>
          <a:noFill/>
          <a:ln/>
        </p:spPr>
        <p:txBody>
          <a:bodyPr wrap="square" lIns="0" tIns="0" rIns="0" bIns="0"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Study C fork</a:t>
            </a:r>
            <a:endParaRPr lang="en-US" sz="1100" dirty="0"/>
          </a:p>
        </p:txBody>
      </p:sp>
      <p:sp>
        <p:nvSpPr>
          <p:cNvPr id="23" name="Text 21"/>
          <p:cNvSpPr/>
          <p:nvPr/>
        </p:nvSpPr>
        <p:spPr>
          <a:xfrm>
            <a:off x="6583680" y="4672584"/>
            <a:ext cx="5056632" cy="274320"/>
          </a:xfrm>
          <a:prstGeom prst="rect">
            <a:avLst/>
          </a:prstGeom>
          <a:noFill/>
          <a:ln/>
        </p:spPr>
        <p:txBody>
          <a:bodyPr wrap="square" lIns="0" tIns="0" rIns="0" bIns="0" rtlCol="0" anchor="ctr"/>
          <a:lstStyle/>
          <a:p>
            <a:pPr algn="ctr" indent="0" marL="0">
              <a:buNone/>
            </a:pPr>
            <a:r>
              <a:rPr lang="en-US" sz="1100" i="1" dirty="0">
                <a:solidFill>
                  <a:srgbClr val="6B7280"/>
                </a:solidFill>
                <a:latin typeface="Arial" pitchFamily="34" charset="0"/>
                <a:ea typeface="Arial" pitchFamily="34" charset="-122"/>
                <a:cs typeface="Arial" pitchFamily="34" charset="-120"/>
              </a:rPr>
              <a:t>Each study duplicates the whole system.</a:t>
            </a:r>
            <a:endParaRPr lang="en-US" sz="1100" dirty="0"/>
          </a:p>
        </p:txBody>
      </p:sp>
      <p:sp>
        <p:nvSpPr>
          <p:cNvPr id="25" name="Text 22"/>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Reading the Reader · MSc Thesis Defense</a:t>
            </a:r>
            <a:endParaRPr lang="en-US" sz="900" dirty="0"/>
          </a:p>
        </p:txBody>
      </p:sp>
      <p:sp>
        <p:nvSpPr>
          <p:cNvPr id="26" name="Text 23"/>
          <p:cNvSpPr/>
          <p:nvPr/>
        </p:nvSpPr>
        <p:spPr>
          <a:xfrm>
            <a:off x="11091672" y="6473952"/>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20624"/>
            <a:ext cx="11091672" cy="274320"/>
          </a:xfrm>
          <a:prstGeom prst="rect">
            <a:avLst/>
          </a:prstGeom>
          <a:noFill/>
          <a:ln/>
        </p:spPr>
        <p:txBody>
          <a:bodyPr wrap="square" lIns="0" tIns="0" rIns="0" bIns="0" rtlCol="0" anchor="ctr"/>
          <a:lstStyle/>
          <a:p>
            <a:pPr indent="0" marL="0">
              <a:buNone/>
            </a:pPr>
            <a:r>
              <a:rPr lang="en-US" sz="1250" b="1" spc="250" kern="0" dirty="0">
                <a:solidFill>
                  <a:srgbClr val="990000"/>
                </a:solidFill>
                <a:latin typeface="Arial" pitchFamily="34" charset="0"/>
                <a:ea typeface="Arial" pitchFamily="34" charset="-122"/>
                <a:cs typeface="Arial" pitchFamily="34" charset="-120"/>
              </a:rPr>
              <a:t>FRAMING</a:t>
            </a:r>
            <a:endParaRPr lang="en-US" sz="1250" dirty="0"/>
          </a:p>
        </p:txBody>
      </p:sp>
      <p:sp>
        <p:nvSpPr>
          <p:cNvPr id="3" name="Text 1"/>
          <p:cNvSpPr/>
          <p:nvPr/>
        </p:nvSpPr>
        <p:spPr>
          <a:xfrm>
            <a:off x="548640" y="676656"/>
            <a:ext cx="11091672" cy="777240"/>
          </a:xfrm>
          <a:prstGeom prst="rect">
            <a:avLst/>
          </a:prstGeom>
          <a:noFill/>
          <a:ln/>
        </p:spPr>
        <p:txBody>
          <a:bodyPr wrap="square" lIns="0" tIns="0" rIns="0" bIns="0" rtlCol="0" anchor="t"/>
          <a:lstStyle/>
          <a:p>
            <a:pPr indent="0" marL="0">
              <a:lnSpc>
                <a:spcPct val="98000"/>
              </a:lnSpc>
              <a:buNone/>
            </a:pPr>
            <a:r>
              <a:rPr lang="en-US" sz="2900" b="1" dirty="0">
                <a:solidFill>
                  <a:srgbClr val="1A1A1A"/>
                </a:solidFill>
                <a:latin typeface="Arial" pitchFamily="34" charset="0"/>
                <a:ea typeface="Arial" pitchFamily="34" charset="-122"/>
                <a:cs typeface="Arial" pitchFamily="34" charset="-120"/>
              </a:rPr>
              <a:t>The contribution is design knowledge, not the code</a:t>
            </a:r>
            <a:endParaRPr lang="en-US" sz="2900" dirty="0"/>
          </a:p>
        </p:txBody>
      </p:sp>
      <p:sp>
        <p:nvSpPr>
          <p:cNvPr id="4" name="Text 2"/>
          <p:cNvSpPr/>
          <p:nvPr/>
        </p:nvSpPr>
        <p:spPr>
          <a:xfrm>
            <a:off x="548640" y="1627632"/>
            <a:ext cx="11091672" cy="777240"/>
          </a:xfrm>
          <a:prstGeom prst="rect">
            <a:avLst/>
          </a:prstGeom>
          <a:noFill/>
          <a:ln/>
        </p:spPr>
        <p:txBody>
          <a:bodyPr wrap="square" lIns="0" tIns="0" rIns="0" bIns="0" rtlCol="0" anchor="ctr"/>
          <a:lstStyle/>
          <a:p>
            <a:pPr indent="0" marL="0">
              <a:lnSpc>
                <a:spcPct val="108000"/>
              </a:lnSpc>
              <a:buNone/>
            </a:pPr>
            <a:r>
              <a:rPr lang="en-US" sz="1500" dirty="0">
                <a:solidFill>
                  <a:srgbClr val="1A1A1A"/>
                </a:solidFill>
                <a:latin typeface="Arial" pitchFamily="34" charset="0"/>
                <a:ea typeface="Arial" pitchFamily="34" charset="-122"/>
                <a:cs typeface="Arial" pitchFamily="34" charset="-120"/>
              </a:rPr>
              <a:t>A platform can look like an engineering exercise. We argue it is also research. </a:t>
            </a:r>
            <a:pPr indent="0" marL="0">
              <a:lnSpc>
                <a:spcPct val="108000"/>
              </a:lnSpc>
              <a:buNone/>
            </a:pPr>
            <a:r>
              <a:rPr lang="en-US" sz="1500" dirty="0">
                <a:solidFill>
                  <a:srgbClr val="1A1A1A"/>
                </a:solidFill>
                <a:latin typeface="Arial" pitchFamily="34" charset="0"/>
                <a:ea typeface="Arial" pitchFamily="34" charset="-122"/>
                <a:cs typeface="Arial" pitchFamily="34" charset="-120"/>
              </a:rPr>
              <a:t>Under the Design Science Research paradigm, a designed artifact and the knowledge it embodies are themselves the contribution — when rigorously motivated and evaluated.</a:t>
            </a:r>
            <a:endParaRPr lang="en-US" sz="1500" dirty="0"/>
          </a:p>
        </p:txBody>
      </p:sp>
      <p:sp>
        <p:nvSpPr>
          <p:cNvPr id="5" name="Shape 3"/>
          <p:cNvSpPr/>
          <p:nvPr/>
        </p:nvSpPr>
        <p:spPr>
          <a:xfrm>
            <a:off x="548640" y="2743200"/>
            <a:ext cx="3392424" cy="2468880"/>
          </a:xfrm>
          <a:prstGeom prst="roundRect">
            <a:avLst>
              <a:gd name="adj" fmla="val 2593"/>
            </a:avLst>
          </a:prstGeom>
          <a:solidFill>
            <a:srgbClr val="F4F5F7"/>
          </a:solidFill>
          <a:ln w="12700">
            <a:solidFill>
              <a:srgbClr val="D6DAE2"/>
            </a:solidFill>
            <a:prstDash val="solid"/>
          </a:ln>
        </p:spPr>
      </p:sp>
      <p:sp>
        <p:nvSpPr>
          <p:cNvPr id="6" name="Shape 4"/>
          <p:cNvSpPr/>
          <p:nvPr/>
        </p:nvSpPr>
        <p:spPr>
          <a:xfrm>
            <a:off x="841248" y="3054096"/>
            <a:ext cx="457200" cy="457200"/>
          </a:xfrm>
          <a:prstGeom prst="ellipse">
            <a:avLst/>
          </a:prstGeom>
          <a:solidFill>
            <a:srgbClr val="990000"/>
          </a:solidFill>
          <a:ln/>
        </p:spPr>
      </p:sp>
      <p:sp>
        <p:nvSpPr>
          <p:cNvPr id="7" name="Text 5"/>
          <p:cNvSpPr/>
          <p:nvPr/>
        </p:nvSpPr>
        <p:spPr>
          <a:xfrm>
            <a:off x="841248" y="30540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417320" y="3072384"/>
            <a:ext cx="2295144" cy="457200"/>
          </a:xfrm>
          <a:prstGeom prst="rect">
            <a:avLst/>
          </a:prstGeom>
          <a:noFill/>
          <a:ln/>
        </p:spPr>
        <p:txBody>
          <a:bodyPr wrap="square" lIns="0" tIns="0" rIns="0" bIns="0" rtlCol="0" anchor="ctr"/>
          <a:lstStyle/>
          <a:p>
            <a:pPr indent="0" marL="0">
              <a:buNone/>
            </a:pPr>
            <a:r>
              <a:rPr lang="en-US" sz="1900" b="1" dirty="0">
                <a:solidFill>
                  <a:srgbClr val="1A1A1A"/>
                </a:solidFill>
                <a:latin typeface="Arial" pitchFamily="34" charset="0"/>
                <a:ea typeface="Arial" pitchFamily="34" charset="-122"/>
                <a:cs typeface="Arial" pitchFamily="34" charset="-120"/>
              </a:rPr>
              <a:t>Motivate</a:t>
            </a:r>
            <a:endParaRPr lang="en-US" sz="1900" dirty="0"/>
          </a:p>
        </p:txBody>
      </p:sp>
      <p:sp>
        <p:nvSpPr>
          <p:cNvPr id="9" name="Text 7"/>
          <p:cNvSpPr/>
          <p:nvPr/>
        </p:nvSpPr>
        <p:spPr>
          <a:xfrm>
            <a:off x="859536" y="3767328"/>
            <a:ext cx="2788920" cy="1280160"/>
          </a:xfrm>
          <a:prstGeom prst="rect">
            <a:avLst/>
          </a:prstGeom>
          <a:noFill/>
          <a:ln/>
        </p:spPr>
        <p:txBody>
          <a:bodyPr wrap="square" lIns="0" tIns="0" rIns="0" bIns="0" rtlCol="0" anchor="t"/>
          <a:lstStyle/>
          <a:p>
            <a:pPr indent="0" marL="0">
              <a:lnSpc>
                <a:spcPct val="108000"/>
              </a:lnSpc>
              <a:buNone/>
            </a:pPr>
            <a:r>
              <a:rPr lang="en-US" sz="1350" dirty="0">
                <a:solidFill>
                  <a:srgbClr val="1A1A1A"/>
                </a:solidFill>
                <a:latin typeface="Arial" pitchFamily="34" charset="0"/>
                <a:ea typeface="Arial" pitchFamily="34" charset="-122"/>
                <a:cs typeface="Arial" pitchFamily="34" charset="-120"/>
              </a:rPr>
              <a:t>A real, unmet need: prior forks made every study expensive, and no tool unites the four capabilities.</a:t>
            </a:r>
            <a:endParaRPr lang="en-US" sz="1350" dirty="0"/>
          </a:p>
        </p:txBody>
      </p:sp>
      <p:sp>
        <p:nvSpPr>
          <p:cNvPr id="10" name="Shape 8"/>
          <p:cNvSpPr/>
          <p:nvPr/>
        </p:nvSpPr>
        <p:spPr>
          <a:xfrm>
            <a:off x="4398264" y="2743200"/>
            <a:ext cx="3392424" cy="2468880"/>
          </a:xfrm>
          <a:prstGeom prst="roundRect">
            <a:avLst>
              <a:gd name="adj" fmla="val 2593"/>
            </a:avLst>
          </a:prstGeom>
          <a:solidFill>
            <a:srgbClr val="030F4F"/>
          </a:solidFill>
          <a:ln w="12700">
            <a:solidFill>
              <a:srgbClr val="030F4F"/>
            </a:solidFill>
            <a:prstDash val="solid"/>
          </a:ln>
          <a:effectLst>
            <a:outerShdw sx="100000" sy="100000" kx="0" ky="0" algn="bl" rotWithShape="0" blurRad="88900" dist="38100" dir="5400000">
              <a:srgbClr val="000000">
                <a:alpha val="12000"/>
              </a:srgbClr>
            </a:outerShdw>
          </a:effectLst>
        </p:spPr>
      </p:sp>
      <p:sp>
        <p:nvSpPr>
          <p:cNvPr id="11" name="Shape 9"/>
          <p:cNvSpPr/>
          <p:nvPr/>
        </p:nvSpPr>
        <p:spPr>
          <a:xfrm>
            <a:off x="4690872" y="3054096"/>
            <a:ext cx="457200" cy="457200"/>
          </a:xfrm>
          <a:prstGeom prst="ellipse">
            <a:avLst/>
          </a:prstGeom>
          <a:solidFill>
            <a:srgbClr val="990000"/>
          </a:solidFill>
          <a:ln/>
        </p:spPr>
      </p:sp>
      <p:sp>
        <p:nvSpPr>
          <p:cNvPr id="12" name="Text 10"/>
          <p:cNvSpPr/>
          <p:nvPr/>
        </p:nvSpPr>
        <p:spPr>
          <a:xfrm>
            <a:off x="4690872" y="30540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p:nvPr/>
        </p:nvSpPr>
        <p:spPr>
          <a:xfrm>
            <a:off x="5266944" y="3072384"/>
            <a:ext cx="2295144" cy="45720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Build</a:t>
            </a:r>
            <a:endParaRPr lang="en-US" sz="1900" dirty="0"/>
          </a:p>
        </p:txBody>
      </p:sp>
      <p:sp>
        <p:nvSpPr>
          <p:cNvPr id="14" name="Text 12"/>
          <p:cNvSpPr/>
          <p:nvPr/>
        </p:nvSpPr>
        <p:spPr>
          <a:xfrm>
            <a:off x="4709160" y="3767328"/>
            <a:ext cx="2788920" cy="1280160"/>
          </a:xfrm>
          <a:prstGeom prst="rect">
            <a:avLst/>
          </a:prstGeom>
          <a:noFill/>
          <a:ln/>
        </p:spPr>
        <p:txBody>
          <a:bodyPr wrap="square" lIns="0" tIns="0" rIns="0" bIns="0" rtlCol="0" anchor="t"/>
          <a:lstStyle/>
          <a:p>
            <a:pPr indent="0" marL="0">
              <a:lnSpc>
                <a:spcPct val="108000"/>
              </a:lnSpc>
              <a:buNone/>
            </a:pPr>
            <a:r>
              <a:rPr lang="en-US" sz="1350" dirty="0">
                <a:solidFill>
                  <a:srgbClr val="DCE2F2"/>
                </a:solidFill>
                <a:latin typeface="Arial" pitchFamily="34" charset="0"/>
                <a:ea typeface="Arial" pitchFamily="34" charset="-122"/>
                <a:cs typeface="Arial" pitchFamily="34" charset="-120"/>
              </a:rPr>
              <a:t>The designed artifact — a modular, two-screen adaptive reading platform with four replaceable modules.</a:t>
            </a:r>
            <a:endParaRPr lang="en-US" sz="1350" dirty="0"/>
          </a:p>
        </p:txBody>
      </p:sp>
      <p:sp>
        <p:nvSpPr>
          <p:cNvPr id="15" name="Shape 13"/>
          <p:cNvSpPr/>
          <p:nvPr/>
        </p:nvSpPr>
        <p:spPr>
          <a:xfrm>
            <a:off x="8247888" y="2743200"/>
            <a:ext cx="3392424" cy="2468880"/>
          </a:xfrm>
          <a:prstGeom prst="roundRect">
            <a:avLst>
              <a:gd name="adj" fmla="val 2593"/>
            </a:avLst>
          </a:prstGeom>
          <a:solidFill>
            <a:srgbClr val="F4F5F7"/>
          </a:solidFill>
          <a:ln w="12700">
            <a:solidFill>
              <a:srgbClr val="D6DAE2"/>
            </a:solidFill>
            <a:prstDash val="solid"/>
          </a:ln>
        </p:spPr>
      </p:sp>
      <p:sp>
        <p:nvSpPr>
          <p:cNvPr id="16" name="Shape 14"/>
          <p:cNvSpPr/>
          <p:nvPr/>
        </p:nvSpPr>
        <p:spPr>
          <a:xfrm>
            <a:off x="8540496" y="3054096"/>
            <a:ext cx="457200" cy="457200"/>
          </a:xfrm>
          <a:prstGeom prst="ellipse">
            <a:avLst/>
          </a:prstGeom>
          <a:solidFill>
            <a:srgbClr val="990000"/>
          </a:solidFill>
          <a:ln/>
        </p:spPr>
      </p:sp>
      <p:sp>
        <p:nvSpPr>
          <p:cNvPr id="17" name="Text 15"/>
          <p:cNvSpPr/>
          <p:nvPr/>
        </p:nvSpPr>
        <p:spPr>
          <a:xfrm>
            <a:off x="8540496" y="30540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6"/>
          <p:cNvSpPr/>
          <p:nvPr/>
        </p:nvSpPr>
        <p:spPr>
          <a:xfrm>
            <a:off x="9116568" y="3072384"/>
            <a:ext cx="2295144" cy="457200"/>
          </a:xfrm>
          <a:prstGeom prst="rect">
            <a:avLst/>
          </a:prstGeom>
          <a:noFill/>
          <a:ln/>
        </p:spPr>
        <p:txBody>
          <a:bodyPr wrap="square" lIns="0" tIns="0" rIns="0" bIns="0" rtlCol="0" anchor="ctr"/>
          <a:lstStyle/>
          <a:p>
            <a:pPr indent="0" marL="0">
              <a:buNone/>
            </a:pPr>
            <a:r>
              <a:rPr lang="en-US" sz="1900" b="1" dirty="0">
                <a:solidFill>
                  <a:srgbClr val="1A1A1A"/>
                </a:solidFill>
                <a:latin typeface="Arial" pitchFamily="34" charset="0"/>
                <a:ea typeface="Arial" pitchFamily="34" charset="-122"/>
                <a:cs typeface="Arial" pitchFamily="34" charset="-120"/>
              </a:rPr>
              <a:t>Evaluate</a:t>
            </a:r>
            <a:endParaRPr lang="en-US" sz="1900" dirty="0"/>
          </a:p>
        </p:txBody>
      </p:sp>
      <p:sp>
        <p:nvSpPr>
          <p:cNvPr id="19" name="Text 17"/>
          <p:cNvSpPr/>
          <p:nvPr/>
        </p:nvSpPr>
        <p:spPr>
          <a:xfrm>
            <a:off x="8558784" y="3767328"/>
            <a:ext cx="2788920" cy="1280160"/>
          </a:xfrm>
          <a:prstGeom prst="rect">
            <a:avLst/>
          </a:prstGeom>
          <a:noFill/>
          <a:ln/>
        </p:spPr>
        <p:txBody>
          <a:bodyPr wrap="square" lIns="0" tIns="0" rIns="0" bIns="0" rtlCol="0" anchor="t"/>
          <a:lstStyle/>
          <a:p>
            <a:pPr indent="0" marL="0">
              <a:lnSpc>
                <a:spcPct val="108000"/>
              </a:lnSpc>
              <a:buNone/>
            </a:pPr>
            <a:r>
              <a:rPr lang="en-US" sz="1350" dirty="0">
                <a:solidFill>
                  <a:srgbClr val="1A1A1A"/>
                </a:solidFill>
                <a:latin typeface="Arial" pitchFamily="34" charset="0"/>
                <a:ea typeface="Arial" pitchFamily="34" charset="-122"/>
                <a:cs typeface="Arial" pitchFamily="34" charset="-120"/>
              </a:rPr>
              <a:t>The knowledge it yields: do the seams actually hold under a real-time, hardware-backed reading loop?</a:t>
            </a:r>
            <a:endParaRPr lang="en-US" sz="1350" dirty="0"/>
          </a:p>
        </p:txBody>
      </p:sp>
      <p:sp>
        <p:nvSpPr>
          <p:cNvPr id="20" name="Text 18"/>
          <p:cNvSpPr/>
          <p:nvPr/>
        </p:nvSpPr>
        <p:spPr>
          <a:xfrm>
            <a:off x="548640" y="5532120"/>
            <a:ext cx="11091672" cy="548640"/>
          </a:xfrm>
          <a:prstGeom prst="rect">
            <a:avLst/>
          </a:prstGeom>
          <a:noFill/>
          <a:ln/>
        </p:spPr>
        <p:txBody>
          <a:bodyPr wrap="square" lIns="0" tIns="0" rIns="0" bIns="0" rtlCol="0" anchor="ctr"/>
          <a:lstStyle/>
          <a:p>
            <a:pPr algn="ctr" indent="0" marL="0">
              <a:buNone/>
            </a:pPr>
            <a:r>
              <a:rPr lang="en-US" sz="1350" b="1" i="1" dirty="0">
                <a:solidFill>
                  <a:srgbClr val="030F4F"/>
                </a:solidFill>
                <a:latin typeface="Arial" pitchFamily="34" charset="0"/>
                <a:ea typeface="Arial" pitchFamily="34" charset="-122"/>
                <a:cs typeface="Arial" pitchFamily="34" charset="-120"/>
              </a:rPr>
              <a:t>So the research contribution is the module boundaries and integration contracts — and the evidence of whether they hold — not the running code itself.</a:t>
            </a:r>
            <a:endParaRPr lang="en-US" sz="1350" dirty="0"/>
          </a:p>
        </p:txBody>
      </p:sp>
      <p:sp>
        <p:nvSpPr>
          <p:cNvPr id="22" name="Text 19"/>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Reading the Reader · MSc Thesis Defense</a:t>
            </a:r>
            <a:endParaRPr lang="en-US" sz="900" dirty="0"/>
          </a:p>
        </p:txBody>
      </p:sp>
      <p:sp>
        <p:nvSpPr>
          <p:cNvPr id="23" name="Text 20"/>
          <p:cNvSpPr/>
          <p:nvPr/>
        </p:nvSpPr>
        <p:spPr>
          <a:xfrm>
            <a:off x="11091672" y="6473952"/>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20624"/>
            <a:ext cx="11091672" cy="274320"/>
          </a:xfrm>
          <a:prstGeom prst="rect">
            <a:avLst/>
          </a:prstGeom>
          <a:noFill/>
          <a:ln/>
        </p:spPr>
        <p:txBody>
          <a:bodyPr wrap="square" lIns="0" tIns="0" rIns="0" bIns="0" rtlCol="0" anchor="ctr"/>
          <a:lstStyle/>
          <a:p>
            <a:pPr indent="0" marL="0">
              <a:buNone/>
            </a:pPr>
            <a:r>
              <a:rPr lang="en-US" sz="1250" b="1" spc="250" kern="0" dirty="0">
                <a:solidFill>
                  <a:srgbClr val="990000"/>
                </a:solidFill>
                <a:latin typeface="Arial" pitchFamily="34" charset="0"/>
                <a:ea typeface="Arial" pitchFamily="34" charset="-122"/>
                <a:cs typeface="Arial" pitchFamily="34" charset="-120"/>
              </a:rPr>
              <a:t>THE GAP</a:t>
            </a:r>
            <a:endParaRPr lang="en-US" sz="1250" dirty="0"/>
          </a:p>
        </p:txBody>
      </p:sp>
      <p:sp>
        <p:nvSpPr>
          <p:cNvPr id="3" name="Text 1"/>
          <p:cNvSpPr/>
          <p:nvPr/>
        </p:nvSpPr>
        <p:spPr>
          <a:xfrm>
            <a:off x="548640" y="676656"/>
            <a:ext cx="11091672" cy="777240"/>
          </a:xfrm>
          <a:prstGeom prst="rect">
            <a:avLst/>
          </a:prstGeom>
          <a:noFill/>
          <a:ln/>
        </p:spPr>
        <p:txBody>
          <a:bodyPr wrap="square" lIns="0" tIns="0" rIns="0" bIns="0" rtlCol="0" anchor="t"/>
          <a:lstStyle/>
          <a:p>
            <a:pPr indent="0" marL="0">
              <a:lnSpc>
                <a:spcPct val="98000"/>
              </a:lnSpc>
              <a:buNone/>
            </a:pPr>
            <a:r>
              <a:rPr lang="en-US" sz="2900" b="1" dirty="0">
                <a:solidFill>
                  <a:srgbClr val="1A1A1A"/>
                </a:solidFill>
                <a:latin typeface="Arial" pitchFamily="34" charset="0"/>
                <a:ea typeface="Arial" pitchFamily="34" charset="-122"/>
                <a:cs typeface="Arial" pitchFamily="34" charset="-120"/>
              </a:rPr>
              <a:t>No existing tool combines all four capabilities</a:t>
            </a:r>
            <a:endParaRPr lang="en-US" sz="2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2496312"/>
                <a:gridCol w="1719072"/>
                <a:gridCol w="1719072"/>
                <a:gridCol w="1719072"/>
                <a:gridCol w="1719072"/>
                <a:gridCol w="1719072"/>
              </a:tblGrid>
              <a:tr h="77724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Tool / Platform</a:t>
                      </a:r>
                      <a:endParaRPr lang="en-US" sz="11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030F4F"/>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Real-time gaze sensing</a:t>
                      </a:r>
                      <a:endParaRPr lang="en-US" sz="11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030F4F"/>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Context-preserving intervention</a:t>
                      </a:r>
                      <a:endParaRPr lang="en-US" sz="11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030F4F"/>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Researcher in the loop</a:t>
                      </a:r>
                      <a:endParaRPr lang="en-US" sz="11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030F4F"/>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Pluggable decision logic</a:t>
                      </a:r>
                      <a:endParaRPr lang="en-US" sz="11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030F4F"/>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Reproducible record</a:t>
                      </a:r>
                      <a:endParaRPr lang="en-US" sz="11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030F4F"/>
                    </a:solidFill>
                  </a:tcPr>
                </a:tc>
              </a:tr>
              <a:tr h="566928">
                <a:tc>
                  <a:txBody>
                    <a:bodyPr/>
                    <a:lstStyle/>
                    <a:p>
                      <a:pPr algn="l" indent="0" marL="0">
                        <a:buNone/>
                      </a:pPr>
                      <a:r>
                        <a:rPr lang="en-US" sz="1250" dirty="0">
                          <a:solidFill>
                            <a:srgbClr val="1A1A1A"/>
                          </a:solidFill>
                          <a:latin typeface="Arial" pitchFamily="34" charset="0"/>
                          <a:ea typeface="Arial" pitchFamily="34" charset="-122"/>
                          <a:cs typeface="Arial" pitchFamily="34" charset="-120"/>
                        </a:rPr>
                        <a:t>Tobii Pro Lab</a:t>
                      </a:r>
                      <a:endParaRPr lang="en-US" sz="125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E7D32"/>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6BCC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E7D32"/>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6BCC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E7D32"/>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r>
              <a:tr h="566928">
                <a:tc>
                  <a:txBody>
                    <a:bodyPr/>
                    <a:lstStyle/>
                    <a:p>
                      <a:pPr algn="l" indent="0" marL="0">
                        <a:buNone/>
                      </a:pPr>
                      <a:r>
                        <a:rPr lang="en-US" sz="1250" dirty="0">
                          <a:solidFill>
                            <a:srgbClr val="1A1A1A"/>
                          </a:solidFill>
                          <a:latin typeface="Arial" pitchFamily="34" charset="0"/>
                          <a:ea typeface="Arial" pitchFamily="34" charset="-122"/>
                          <a:cs typeface="Arial" pitchFamily="34" charset="-120"/>
                        </a:rPr>
                        <a:t>EyeLink</a:t>
                      </a:r>
                      <a:endParaRPr lang="en-US" sz="125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E7D32"/>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6BCC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E7D32"/>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6BCC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E7D32"/>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r>
              <a:tr h="566928">
                <a:tc>
                  <a:txBody>
                    <a:bodyPr/>
                    <a:lstStyle/>
                    <a:p>
                      <a:pPr algn="l" indent="0" marL="0">
                        <a:buNone/>
                      </a:pPr>
                      <a:r>
                        <a:rPr lang="en-US" sz="1250" dirty="0">
                          <a:solidFill>
                            <a:srgbClr val="1A1A1A"/>
                          </a:solidFill>
                          <a:latin typeface="Arial" pitchFamily="34" charset="0"/>
                          <a:ea typeface="Arial" pitchFamily="34" charset="-122"/>
                          <a:cs typeface="Arial" pitchFamily="34" charset="-120"/>
                        </a:rPr>
                        <a:t>PsychoPy</a:t>
                      </a:r>
                      <a:endParaRPr lang="en-US" sz="125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E7D32"/>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6BCC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6BCC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6BCC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E7D32"/>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r>
              <a:tr h="566928">
                <a:tc>
                  <a:txBody>
                    <a:bodyPr/>
                    <a:lstStyle/>
                    <a:p>
                      <a:pPr algn="l" indent="0" marL="0">
                        <a:buNone/>
                      </a:pPr>
                      <a:r>
                        <a:rPr lang="en-US" sz="1250" dirty="0">
                          <a:solidFill>
                            <a:srgbClr val="1A1A1A"/>
                          </a:solidFill>
                          <a:latin typeface="Arial" pitchFamily="34" charset="0"/>
                          <a:ea typeface="Arial" pitchFamily="34" charset="-122"/>
                          <a:cs typeface="Arial" pitchFamily="34" charset="-120"/>
                        </a:rPr>
                        <a:t>Psychtoolbox</a:t>
                      </a:r>
                      <a:endParaRPr lang="en-US" sz="125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E7D32"/>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6BCC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6BCC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6BCC6"/>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E7D32"/>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r>
              <a:tr h="658368">
                <a:tc>
                  <a:txBody>
                    <a:bodyPr/>
                    <a:lstStyle/>
                    <a:p>
                      <a:pPr algn="l" indent="0" marL="0">
                        <a:buNone/>
                      </a:pPr>
                      <a:r>
                        <a:rPr lang="en-US" sz="1250" b="1" dirty="0">
                          <a:solidFill>
                            <a:srgbClr val="990000"/>
                          </a:solidFill>
                          <a:latin typeface="Arial" pitchFamily="34" charset="0"/>
                          <a:ea typeface="Arial" pitchFamily="34" charset="-122"/>
                          <a:cs typeface="Arial" pitchFamily="34" charset="-120"/>
                        </a:rPr>
                        <a:t>Our platform</a:t>
                      </a:r>
                      <a:endParaRPr lang="en-US" sz="125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6ECEC"/>
                    </a:solidFill>
                  </a:tcPr>
                </a:tc>
                <a:tc>
                  <a:txBody>
                    <a:bodyPr/>
                    <a:lstStyle/>
                    <a:p>
                      <a:pPr algn="ctr" indent="0" marL="0">
                        <a:buNone/>
                      </a:pPr>
                      <a:r>
                        <a:rPr lang="en-US" sz="1500" b="1" dirty="0">
                          <a:solidFill>
                            <a:srgbClr val="2E7D32"/>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6ECEC"/>
                    </a:solidFill>
                  </a:tcPr>
                </a:tc>
                <a:tc>
                  <a:txBody>
                    <a:bodyPr/>
                    <a:lstStyle/>
                    <a:p>
                      <a:pPr algn="ctr" indent="0" marL="0">
                        <a:buNone/>
                      </a:pPr>
                      <a:r>
                        <a:rPr lang="en-US" sz="1500" b="1" dirty="0">
                          <a:solidFill>
                            <a:srgbClr val="2E7D32"/>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6ECEC"/>
                    </a:solidFill>
                  </a:tcPr>
                </a:tc>
                <a:tc>
                  <a:txBody>
                    <a:bodyPr/>
                    <a:lstStyle/>
                    <a:p>
                      <a:pPr algn="ctr" indent="0" marL="0">
                        <a:buNone/>
                      </a:pPr>
                      <a:r>
                        <a:rPr lang="en-US" sz="1500" b="1" dirty="0">
                          <a:solidFill>
                            <a:srgbClr val="2E7D32"/>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6ECEC"/>
                    </a:solidFill>
                  </a:tcPr>
                </a:tc>
                <a:tc>
                  <a:txBody>
                    <a:bodyPr/>
                    <a:lstStyle/>
                    <a:p>
                      <a:pPr algn="ctr" indent="0" marL="0">
                        <a:buNone/>
                      </a:pPr>
                      <a:r>
                        <a:rPr lang="en-US" sz="1500" b="1" dirty="0">
                          <a:solidFill>
                            <a:srgbClr val="2E7D32"/>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6ECEC"/>
                    </a:solidFill>
                  </a:tcPr>
                </a:tc>
                <a:tc>
                  <a:txBody>
                    <a:bodyPr/>
                    <a:lstStyle/>
                    <a:p>
                      <a:pPr algn="ctr" indent="0" marL="0">
                        <a:buNone/>
                      </a:pPr>
                      <a:r>
                        <a:rPr lang="en-US" sz="1500" b="1" dirty="0">
                          <a:solidFill>
                            <a:srgbClr val="2E7D32"/>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38100" marR="38100" marT="38100" marB="38100"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6ECEC"/>
                    </a:solidFill>
                  </a:tcPr>
                </a:tc>
              </a:tr>
            </a:tbl>
          </a:graphicData>
        </a:graphic>
      </p:graphicFrame>
      <p:sp>
        <p:nvSpPr>
          <p:cNvPr id="5" name="Text 2"/>
          <p:cNvSpPr/>
          <p:nvPr/>
        </p:nvSpPr>
        <p:spPr>
          <a:xfrm>
            <a:off x="548640" y="5806440"/>
            <a:ext cx="11091672" cy="548640"/>
          </a:xfrm>
          <a:prstGeom prst="rect">
            <a:avLst/>
          </a:prstGeom>
          <a:noFill/>
          <a:ln/>
        </p:spPr>
        <p:txBody>
          <a:bodyPr wrap="square" lIns="0" tIns="0" rIns="0" bIns="0" rtlCol="0" anchor="ctr"/>
          <a:lstStyle/>
          <a:p>
            <a:pPr indent="0" marL="0">
              <a:lnSpc>
                <a:spcPct val="105000"/>
              </a:lnSpc>
              <a:buNone/>
            </a:pPr>
            <a:r>
              <a:rPr lang="en-US" sz="1250" i="1" dirty="0">
                <a:solidFill>
                  <a:srgbClr val="6B7280"/>
                </a:solidFill>
                <a:latin typeface="Arial" pitchFamily="34" charset="0"/>
                <a:ea typeface="Arial" pitchFamily="34" charset="-122"/>
                <a:cs typeface="Arial" pitchFamily="34" charset="-120"/>
              </a:rPr>
              <a:t>Commercial recorders capture and let a researcher monitor; experiment builders script stimuli. None applies real-time, context-preserving typographic intervention behind a pluggable decision boundary. Our platform is the only complete row.</a:t>
            </a:r>
            <a:endParaRPr lang="en-US" sz="1250" dirty="0"/>
          </a:p>
        </p:txBody>
      </p:sp>
      <p:sp>
        <p:nvSpPr>
          <p:cNvPr id="7" name="Text 3"/>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Reading the Reader · MSc Thesis Defense</a:t>
            </a:r>
            <a:endParaRPr lang="en-US" sz="900" dirty="0"/>
          </a:p>
        </p:txBody>
      </p:sp>
      <p:sp>
        <p:nvSpPr>
          <p:cNvPr id="8" name="Text 4"/>
          <p:cNvSpPr/>
          <p:nvPr/>
        </p:nvSpPr>
        <p:spPr>
          <a:xfrm>
            <a:off x="11091672" y="6473952"/>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20624"/>
            <a:ext cx="11091672" cy="274320"/>
          </a:xfrm>
          <a:prstGeom prst="rect">
            <a:avLst/>
          </a:prstGeom>
          <a:noFill/>
          <a:ln/>
        </p:spPr>
        <p:txBody>
          <a:bodyPr wrap="square" lIns="0" tIns="0" rIns="0" bIns="0" rtlCol="0" anchor="ctr"/>
          <a:lstStyle/>
          <a:p>
            <a:pPr indent="0" marL="0">
              <a:buNone/>
            </a:pPr>
            <a:r>
              <a:rPr lang="en-US" sz="1250" b="1" spc="250" kern="0" dirty="0">
                <a:solidFill>
                  <a:srgbClr val="990000"/>
                </a:solidFill>
                <a:latin typeface="Arial" pitchFamily="34" charset="0"/>
                <a:ea typeface="Arial" pitchFamily="34" charset="-122"/>
                <a:cs typeface="Arial" pitchFamily="34" charset="-120"/>
              </a:rPr>
              <a:t>OUR CONTRIBUTION</a:t>
            </a:r>
            <a:endParaRPr lang="en-US" sz="1250" dirty="0"/>
          </a:p>
        </p:txBody>
      </p:sp>
      <p:sp>
        <p:nvSpPr>
          <p:cNvPr id="3" name="Text 1"/>
          <p:cNvSpPr/>
          <p:nvPr/>
        </p:nvSpPr>
        <p:spPr>
          <a:xfrm>
            <a:off x="548640" y="676656"/>
            <a:ext cx="11091672" cy="777240"/>
          </a:xfrm>
          <a:prstGeom prst="rect">
            <a:avLst/>
          </a:prstGeom>
          <a:noFill/>
          <a:ln/>
        </p:spPr>
        <p:txBody>
          <a:bodyPr wrap="square" lIns="0" tIns="0" rIns="0" bIns="0" rtlCol="0" anchor="t"/>
          <a:lstStyle/>
          <a:p>
            <a:pPr indent="0" marL="0">
              <a:lnSpc>
                <a:spcPct val="98000"/>
              </a:lnSpc>
              <a:buNone/>
            </a:pPr>
            <a:r>
              <a:rPr lang="en-US" sz="2900" b="1" dirty="0">
                <a:solidFill>
                  <a:srgbClr val="1A1A1A"/>
                </a:solidFill>
                <a:latin typeface="Arial" pitchFamily="34" charset="0"/>
                <a:ea typeface="Arial" pitchFamily="34" charset="-122"/>
                <a:cs typeface="Arial" pitchFamily="34" charset="-120"/>
              </a:rPr>
              <a:t>A two-screen, modular adaptive reading platform</a:t>
            </a:r>
            <a:endParaRPr lang="en-US" sz="2900" dirty="0"/>
          </a:p>
        </p:txBody>
      </p:sp>
      <p:sp>
        <p:nvSpPr>
          <p:cNvPr id="4" name="Shape 2"/>
          <p:cNvSpPr/>
          <p:nvPr/>
        </p:nvSpPr>
        <p:spPr>
          <a:xfrm>
            <a:off x="530352" y="1655064"/>
            <a:ext cx="2480563" cy="2734056"/>
          </a:xfrm>
          <a:prstGeom prst="rect">
            <a:avLst/>
          </a:prstGeom>
          <a:solidFill>
            <a:srgbClr val="FFFFFF"/>
          </a:solidFill>
          <a:ln w="12700">
            <a:solidFill>
              <a:srgbClr val="D6DAE2"/>
            </a:solidFill>
            <a:prstDash val="solid"/>
          </a:ln>
          <a:effectLst>
            <a:outerShdw sx="100000" sy="100000" kx="0" ky="0" algn="bl" rotWithShape="0" blurRad="88900" dist="38100" dir="5400000">
              <a:srgbClr val="000000">
                <a:alpha val="12000"/>
              </a:srgbClr>
            </a:outerShdw>
          </a:effectLst>
        </p:spPr>
      </p:sp>
      <p:pic>
        <p:nvPicPr>
          <p:cNvPr id="5" name="Image 0" descr="/private/tmp/claude-501/-Users-sachinbaral-Masters-Thesis-reading-the-reader-monorepo/02f0224a-f714-4962-9dde-d5ef8518d867/scratchpad/deck-assets/ui-reading.png">    </p:cNvPr>
          <p:cNvPicPr>
            <a:picLocks noChangeAspect="1"/>
          </p:cNvPicPr>
          <p:nvPr/>
        </p:nvPicPr>
        <p:blipFill>
          <a:blip r:embed="rId1"/>
          <a:stretch>
            <a:fillRect/>
          </a:stretch>
        </p:blipFill>
        <p:spPr>
          <a:xfrm>
            <a:off x="548640" y="1673352"/>
            <a:ext cx="2443987" cy="2697480"/>
          </a:xfrm>
          <a:prstGeom prst="rect">
            <a:avLst/>
          </a:prstGeom>
        </p:spPr>
      </p:pic>
      <p:sp>
        <p:nvSpPr>
          <p:cNvPr id="6" name="Text 3"/>
          <p:cNvSpPr/>
          <p:nvPr/>
        </p:nvSpPr>
        <p:spPr>
          <a:xfrm>
            <a:off x="548640" y="4416552"/>
            <a:ext cx="3200400" cy="274320"/>
          </a:xfrm>
          <a:prstGeom prst="rect">
            <a:avLst/>
          </a:prstGeom>
          <a:noFill/>
          <a:ln/>
        </p:spPr>
        <p:txBody>
          <a:bodyPr wrap="square" lIns="0" tIns="0" rIns="0" bIns="0" rtlCol="0" anchor="ctr"/>
          <a:lstStyle/>
          <a:p>
            <a:pPr indent="0" marL="0">
              <a:buNone/>
            </a:pPr>
            <a:r>
              <a:rPr lang="en-US" sz="1050" i="1" dirty="0">
                <a:solidFill>
                  <a:srgbClr val="6B7280"/>
                </a:solidFill>
                <a:latin typeface="Arial" pitchFamily="34" charset="0"/>
                <a:ea typeface="Arial" pitchFamily="34" charset="-122"/>
                <a:cs typeface="Arial" pitchFamily="34" charset="-120"/>
              </a:rPr>
              <a:t>Participant screen — text adapts to gaze</a:t>
            </a:r>
            <a:endParaRPr lang="en-US" sz="1050" dirty="0"/>
          </a:p>
        </p:txBody>
      </p:sp>
      <p:sp>
        <p:nvSpPr>
          <p:cNvPr id="7" name="Shape 4"/>
          <p:cNvSpPr/>
          <p:nvPr/>
        </p:nvSpPr>
        <p:spPr>
          <a:xfrm>
            <a:off x="3913632" y="1655064"/>
            <a:ext cx="3361739" cy="2734056"/>
          </a:xfrm>
          <a:prstGeom prst="rect">
            <a:avLst/>
          </a:prstGeom>
          <a:solidFill>
            <a:srgbClr val="FFFFFF"/>
          </a:solidFill>
          <a:ln w="12700">
            <a:solidFill>
              <a:srgbClr val="D6DAE2"/>
            </a:solidFill>
            <a:prstDash val="solid"/>
          </a:ln>
          <a:effectLst>
            <a:outerShdw sx="100000" sy="100000" kx="0" ky="0" algn="bl" rotWithShape="0" blurRad="88900" dist="38100" dir="5400000">
              <a:srgbClr val="000000">
                <a:alpha val="12000"/>
              </a:srgbClr>
            </a:outerShdw>
          </a:effectLst>
        </p:spPr>
      </p:sp>
      <p:pic>
        <p:nvPicPr>
          <p:cNvPr id="8" name="Image 1" descr="/private/tmp/claude-501/-Users-sachinbaral-Masters-Thesis-reading-the-reader-monorepo/02f0224a-f714-4962-9dde-d5ef8518d867/scratchpad/deck-assets/ui-researcher.png">    </p:cNvPr>
          <p:cNvPicPr>
            <a:picLocks noChangeAspect="1"/>
          </p:cNvPicPr>
          <p:nvPr/>
        </p:nvPicPr>
        <p:blipFill>
          <a:blip r:embed="rId2"/>
          <a:stretch>
            <a:fillRect/>
          </a:stretch>
        </p:blipFill>
        <p:spPr>
          <a:xfrm>
            <a:off x="3931920" y="1673352"/>
            <a:ext cx="3325163" cy="2697480"/>
          </a:xfrm>
          <a:prstGeom prst="rect">
            <a:avLst/>
          </a:prstGeom>
        </p:spPr>
      </p:pic>
      <p:sp>
        <p:nvSpPr>
          <p:cNvPr id="9" name="Text 5"/>
          <p:cNvSpPr/>
          <p:nvPr/>
        </p:nvSpPr>
        <p:spPr>
          <a:xfrm>
            <a:off x="3931920" y="4416552"/>
            <a:ext cx="4023360" cy="274320"/>
          </a:xfrm>
          <a:prstGeom prst="rect">
            <a:avLst/>
          </a:prstGeom>
          <a:noFill/>
          <a:ln/>
        </p:spPr>
        <p:txBody>
          <a:bodyPr wrap="square" lIns="0" tIns="0" rIns="0" bIns="0" rtlCol="0" anchor="ctr"/>
          <a:lstStyle/>
          <a:p>
            <a:pPr indent="0" marL="0">
              <a:buNone/>
            </a:pPr>
            <a:r>
              <a:rPr lang="en-US" sz="1050" i="1" dirty="0">
                <a:solidFill>
                  <a:srgbClr val="6B7280"/>
                </a:solidFill>
                <a:latin typeface="Arial" pitchFamily="34" charset="0"/>
                <a:ea typeface="Arial" pitchFamily="34" charset="-122"/>
                <a:cs typeface="Arial" pitchFamily="34" charset="-120"/>
              </a:rPr>
              <a:t>Researcher console — live gaze mirrored, controls</a:t>
            </a:r>
            <a:endParaRPr lang="en-US" sz="1050" dirty="0"/>
          </a:p>
        </p:txBody>
      </p:sp>
      <p:sp>
        <p:nvSpPr>
          <p:cNvPr id="10" name="Text 6"/>
          <p:cNvSpPr/>
          <p:nvPr/>
        </p:nvSpPr>
        <p:spPr>
          <a:xfrm>
            <a:off x="8366760" y="1627632"/>
            <a:ext cx="3273552" cy="457200"/>
          </a:xfrm>
          <a:prstGeom prst="rect">
            <a:avLst/>
          </a:prstGeom>
          <a:noFill/>
          <a:ln/>
        </p:spPr>
        <p:txBody>
          <a:bodyPr wrap="square" lIns="0" tIns="0" rIns="0" bIns="0" rtlCol="0" anchor="ctr"/>
          <a:lstStyle/>
          <a:p>
            <a:pPr indent="0" marL="0">
              <a:buNone/>
            </a:pPr>
            <a:r>
              <a:rPr lang="en-US" sz="1350" b="1" dirty="0">
                <a:solidFill>
                  <a:srgbClr val="1A1A1A"/>
                </a:solidFill>
                <a:latin typeface="Arial" pitchFamily="34" charset="0"/>
                <a:ea typeface="Arial" pitchFamily="34" charset="-122"/>
                <a:cs typeface="Arial" pitchFamily="34" charset="-120"/>
              </a:rPr>
              <a:t>The rest of this talk answers four questions:</a:t>
            </a:r>
            <a:endParaRPr lang="en-US" sz="1350" dirty="0"/>
          </a:p>
        </p:txBody>
      </p:sp>
      <p:sp>
        <p:nvSpPr>
          <p:cNvPr id="11" name="Shape 7"/>
          <p:cNvSpPr/>
          <p:nvPr/>
        </p:nvSpPr>
        <p:spPr>
          <a:xfrm>
            <a:off x="8366760" y="2194560"/>
            <a:ext cx="3273552" cy="731520"/>
          </a:xfrm>
          <a:prstGeom prst="roundRect">
            <a:avLst>
              <a:gd name="adj" fmla="val 8750"/>
            </a:avLst>
          </a:prstGeom>
          <a:solidFill>
            <a:srgbClr val="F4F5F7"/>
          </a:solidFill>
          <a:ln w="12700">
            <a:solidFill>
              <a:srgbClr val="D6DAE2"/>
            </a:solidFill>
            <a:prstDash val="solid"/>
          </a:ln>
        </p:spPr>
      </p:sp>
      <p:sp>
        <p:nvSpPr>
          <p:cNvPr id="12" name="Text 8"/>
          <p:cNvSpPr/>
          <p:nvPr/>
        </p:nvSpPr>
        <p:spPr>
          <a:xfrm>
            <a:off x="8513064" y="2194560"/>
            <a:ext cx="777240" cy="731520"/>
          </a:xfrm>
          <a:prstGeom prst="rect">
            <a:avLst/>
          </a:prstGeom>
          <a:noFill/>
          <a:ln/>
        </p:spPr>
        <p:txBody>
          <a:bodyPr wrap="square" lIns="0" tIns="0" rIns="0" bIns="0" rtlCol="0" anchor="ctr"/>
          <a:lstStyle/>
          <a:p>
            <a:pPr indent="0" marL="0">
              <a:buNone/>
            </a:pPr>
            <a:r>
              <a:rPr lang="en-US" sz="1500" b="1" dirty="0">
                <a:solidFill>
                  <a:srgbClr val="990000"/>
                </a:solidFill>
                <a:latin typeface="Arial" pitchFamily="34" charset="0"/>
                <a:ea typeface="Arial" pitchFamily="34" charset="-122"/>
                <a:cs typeface="Arial" pitchFamily="34" charset="-120"/>
              </a:rPr>
              <a:t>RQ1</a:t>
            </a:r>
            <a:endParaRPr lang="en-US" sz="1500" dirty="0"/>
          </a:p>
        </p:txBody>
      </p:sp>
      <p:sp>
        <p:nvSpPr>
          <p:cNvPr id="13" name="Text 9"/>
          <p:cNvSpPr/>
          <p:nvPr/>
        </p:nvSpPr>
        <p:spPr>
          <a:xfrm>
            <a:off x="9281160" y="2194560"/>
            <a:ext cx="2221992" cy="731520"/>
          </a:xfrm>
          <a:prstGeom prst="rect">
            <a:avLst/>
          </a:prstGeom>
          <a:noFill/>
          <a:ln/>
        </p:spPr>
        <p:txBody>
          <a:bodyPr wrap="square" lIns="0" tIns="0" rIns="0" bIns="0" rtlCol="0" anchor="ctr"/>
          <a:lstStyle/>
          <a:p>
            <a:pPr indent="0" marL="0">
              <a:lnSpc>
                <a:spcPct val="100000"/>
              </a:lnSpc>
              <a:buNone/>
            </a:pPr>
            <a:r>
              <a:rPr lang="en-US" sz="1150" dirty="0">
                <a:solidFill>
                  <a:srgbClr val="1A1A1A"/>
                </a:solidFill>
                <a:latin typeface="Arial" pitchFamily="34" charset="0"/>
                <a:ea typeface="Arial" pitchFamily="34" charset="-122"/>
                <a:cs typeface="Arial" pitchFamily="34" charset="-120"/>
              </a:rPr>
              <a:t>Modularity — swap any module without touching the core</a:t>
            </a:r>
            <a:endParaRPr lang="en-US" sz="1150" dirty="0"/>
          </a:p>
        </p:txBody>
      </p:sp>
      <p:sp>
        <p:nvSpPr>
          <p:cNvPr id="14" name="Shape 10"/>
          <p:cNvSpPr/>
          <p:nvPr/>
        </p:nvSpPr>
        <p:spPr>
          <a:xfrm>
            <a:off x="8366760" y="3044952"/>
            <a:ext cx="3273552" cy="731520"/>
          </a:xfrm>
          <a:prstGeom prst="roundRect">
            <a:avLst>
              <a:gd name="adj" fmla="val 8750"/>
            </a:avLst>
          </a:prstGeom>
          <a:solidFill>
            <a:srgbClr val="F4F5F7"/>
          </a:solidFill>
          <a:ln w="12700">
            <a:solidFill>
              <a:srgbClr val="D6DAE2"/>
            </a:solidFill>
            <a:prstDash val="solid"/>
          </a:ln>
        </p:spPr>
      </p:sp>
      <p:sp>
        <p:nvSpPr>
          <p:cNvPr id="15" name="Text 11"/>
          <p:cNvSpPr/>
          <p:nvPr/>
        </p:nvSpPr>
        <p:spPr>
          <a:xfrm>
            <a:off x="8513064" y="3044952"/>
            <a:ext cx="777240" cy="731520"/>
          </a:xfrm>
          <a:prstGeom prst="rect">
            <a:avLst/>
          </a:prstGeom>
          <a:noFill/>
          <a:ln/>
        </p:spPr>
        <p:txBody>
          <a:bodyPr wrap="square" lIns="0" tIns="0" rIns="0" bIns="0" rtlCol="0" anchor="ctr"/>
          <a:lstStyle/>
          <a:p>
            <a:pPr indent="0" marL="0">
              <a:buNone/>
            </a:pPr>
            <a:r>
              <a:rPr lang="en-US" sz="1500" b="1" dirty="0">
                <a:solidFill>
                  <a:srgbClr val="990000"/>
                </a:solidFill>
                <a:latin typeface="Arial" pitchFamily="34" charset="0"/>
                <a:ea typeface="Arial" pitchFamily="34" charset="-122"/>
                <a:cs typeface="Arial" pitchFamily="34" charset="-120"/>
              </a:rPr>
              <a:t>RQ2</a:t>
            </a:r>
            <a:endParaRPr lang="en-US" sz="1500" dirty="0"/>
          </a:p>
        </p:txBody>
      </p:sp>
      <p:sp>
        <p:nvSpPr>
          <p:cNvPr id="16" name="Text 12"/>
          <p:cNvSpPr/>
          <p:nvPr/>
        </p:nvSpPr>
        <p:spPr>
          <a:xfrm>
            <a:off x="9281160" y="3044952"/>
            <a:ext cx="2221992" cy="731520"/>
          </a:xfrm>
          <a:prstGeom prst="rect">
            <a:avLst/>
          </a:prstGeom>
          <a:noFill/>
          <a:ln/>
        </p:spPr>
        <p:txBody>
          <a:bodyPr wrap="square" lIns="0" tIns="0" rIns="0" bIns="0" rtlCol="0" anchor="ctr"/>
          <a:lstStyle/>
          <a:p>
            <a:pPr indent="0" marL="0">
              <a:lnSpc>
                <a:spcPct val="100000"/>
              </a:lnSpc>
              <a:buNone/>
            </a:pPr>
            <a:r>
              <a:rPr lang="en-US" sz="1150" dirty="0">
                <a:solidFill>
                  <a:srgbClr val="1A1A1A"/>
                </a:solidFill>
                <a:latin typeface="Arial" pitchFamily="34" charset="0"/>
                <a:ea typeface="Arial" pitchFamily="34" charset="-122"/>
                <a:cs typeface="Arial" pitchFamily="34" charset="-120"/>
              </a:rPr>
              <a:t>Sensing — real Tobii stream → events, within budget</a:t>
            </a:r>
            <a:endParaRPr lang="en-US" sz="1150" dirty="0"/>
          </a:p>
        </p:txBody>
      </p:sp>
      <p:sp>
        <p:nvSpPr>
          <p:cNvPr id="17" name="Shape 13"/>
          <p:cNvSpPr/>
          <p:nvPr/>
        </p:nvSpPr>
        <p:spPr>
          <a:xfrm>
            <a:off x="8366760" y="3895344"/>
            <a:ext cx="3273552" cy="731520"/>
          </a:xfrm>
          <a:prstGeom prst="roundRect">
            <a:avLst>
              <a:gd name="adj" fmla="val 8750"/>
            </a:avLst>
          </a:prstGeom>
          <a:solidFill>
            <a:srgbClr val="F4F5F7"/>
          </a:solidFill>
          <a:ln w="12700">
            <a:solidFill>
              <a:srgbClr val="D6DAE2"/>
            </a:solidFill>
            <a:prstDash val="solid"/>
          </a:ln>
        </p:spPr>
      </p:sp>
      <p:sp>
        <p:nvSpPr>
          <p:cNvPr id="18" name="Text 14"/>
          <p:cNvSpPr/>
          <p:nvPr/>
        </p:nvSpPr>
        <p:spPr>
          <a:xfrm>
            <a:off x="8513064" y="3895344"/>
            <a:ext cx="777240" cy="731520"/>
          </a:xfrm>
          <a:prstGeom prst="rect">
            <a:avLst/>
          </a:prstGeom>
          <a:noFill/>
          <a:ln/>
        </p:spPr>
        <p:txBody>
          <a:bodyPr wrap="square" lIns="0" tIns="0" rIns="0" bIns="0" rtlCol="0" anchor="ctr"/>
          <a:lstStyle/>
          <a:p>
            <a:pPr indent="0" marL="0">
              <a:buNone/>
            </a:pPr>
            <a:r>
              <a:rPr lang="en-US" sz="1500" b="1" dirty="0">
                <a:solidFill>
                  <a:srgbClr val="990000"/>
                </a:solidFill>
                <a:latin typeface="Arial" pitchFamily="34" charset="0"/>
                <a:ea typeface="Arial" pitchFamily="34" charset="-122"/>
                <a:cs typeface="Arial" pitchFamily="34" charset="-120"/>
              </a:rPr>
              <a:t>RQ3</a:t>
            </a:r>
            <a:endParaRPr lang="en-US" sz="1500" dirty="0"/>
          </a:p>
        </p:txBody>
      </p:sp>
      <p:sp>
        <p:nvSpPr>
          <p:cNvPr id="19" name="Text 15"/>
          <p:cNvSpPr/>
          <p:nvPr/>
        </p:nvSpPr>
        <p:spPr>
          <a:xfrm>
            <a:off x="9281160" y="3895344"/>
            <a:ext cx="2221992" cy="731520"/>
          </a:xfrm>
          <a:prstGeom prst="rect">
            <a:avLst/>
          </a:prstGeom>
          <a:noFill/>
          <a:ln/>
        </p:spPr>
        <p:txBody>
          <a:bodyPr wrap="square" lIns="0" tIns="0" rIns="0" bIns="0" rtlCol="0" anchor="ctr"/>
          <a:lstStyle/>
          <a:p>
            <a:pPr indent="0" marL="0">
              <a:lnSpc>
                <a:spcPct val="100000"/>
              </a:lnSpc>
              <a:buNone/>
            </a:pPr>
            <a:r>
              <a:rPr lang="en-US" sz="1150" dirty="0">
                <a:solidFill>
                  <a:srgbClr val="1A1A1A"/>
                </a:solidFill>
                <a:latin typeface="Arial" pitchFamily="34" charset="0"/>
                <a:ea typeface="Arial" pitchFamily="34" charset="-122"/>
                <a:cs typeface="Arial" pitchFamily="34" charset="-120"/>
              </a:rPr>
              <a:t>Context — adapt the text, preserve the reader's place</a:t>
            </a:r>
            <a:endParaRPr lang="en-US" sz="1150" dirty="0"/>
          </a:p>
        </p:txBody>
      </p:sp>
      <p:sp>
        <p:nvSpPr>
          <p:cNvPr id="20" name="Shape 16"/>
          <p:cNvSpPr/>
          <p:nvPr/>
        </p:nvSpPr>
        <p:spPr>
          <a:xfrm>
            <a:off x="8366760" y="4745736"/>
            <a:ext cx="3273552" cy="731520"/>
          </a:xfrm>
          <a:prstGeom prst="roundRect">
            <a:avLst>
              <a:gd name="adj" fmla="val 8750"/>
            </a:avLst>
          </a:prstGeom>
          <a:solidFill>
            <a:srgbClr val="F4F5F7"/>
          </a:solidFill>
          <a:ln w="12700">
            <a:solidFill>
              <a:srgbClr val="D6DAE2"/>
            </a:solidFill>
            <a:prstDash val="solid"/>
          </a:ln>
        </p:spPr>
      </p:sp>
      <p:sp>
        <p:nvSpPr>
          <p:cNvPr id="21" name="Text 17"/>
          <p:cNvSpPr/>
          <p:nvPr/>
        </p:nvSpPr>
        <p:spPr>
          <a:xfrm>
            <a:off x="8513064" y="4745736"/>
            <a:ext cx="777240" cy="731520"/>
          </a:xfrm>
          <a:prstGeom prst="rect">
            <a:avLst/>
          </a:prstGeom>
          <a:noFill/>
          <a:ln/>
        </p:spPr>
        <p:txBody>
          <a:bodyPr wrap="square" lIns="0" tIns="0" rIns="0" bIns="0" rtlCol="0" anchor="ctr"/>
          <a:lstStyle/>
          <a:p>
            <a:pPr indent="0" marL="0">
              <a:buNone/>
            </a:pPr>
            <a:r>
              <a:rPr lang="en-US" sz="1500" b="1" dirty="0">
                <a:solidFill>
                  <a:srgbClr val="990000"/>
                </a:solidFill>
                <a:latin typeface="Arial" pitchFamily="34" charset="0"/>
                <a:ea typeface="Arial" pitchFamily="34" charset="-122"/>
                <a:cs typeface="Arial" pitchFamily="34" charset="-120"/>
              </a:rPr>
              <a:t>RQ4</a:t>
            </a:r>
            <a:endParaRPr lang="en-US" sz="1500" dirty="0"/>
          </a:p>
        </p:txBody>
      </p:sp>
      <p:sp>
        <p:nvSpPr>
          <p:cNvPr id="22" name="Text 18"/>
          <p:cNvSpPr/>
          <p:nvPr/>
        </p:nvSpPr>
        <p:spPr>
          <a:xfrm>
            <a:off x="9281160" y="4745736"/>
            <a:ext cx="2221992" cy="731520"/>
          </a:xfrm>
          <a:prstGeom prst="rect">
            <a:avLst/>
          </a:prstGeom>
          <a:noFill/>
          <a:ln/>
        </p:spPr>
        <p:txBody>
          <a:bodyPr wrap="square" lIns="0" tIns="0" rIns="0" bIns="0" rtlCol="0" anchor="ctr"/>
          <a:lstStyle/>
          <a:p>
            <a:pPr indent="0" marL="0">
              <a:lnSpc>
                <a:spcPct val="100000"/>
              </a:lnSpc>
              <a:buNone/>
            </a:pPr>
            <a:r>
              <a:rPr lang="en-US" sz="1150" dirty="0">
                <a:solidFill>
                  <a:srgbClr val="1A1A1A"/>
                </a:solidFill>
                <a:latin typeface="Arial" pitchFamily="34" charset="0"/>
                <a:ea typeface="Arial" pitchFamily="34" charset="-122"/>
                <a:cs typeface="Arial" pitchFamily="34" charset="-120"/>
              </a:rPr>
              <a:t>Control — operate and reproduce the experiment</a:t>
            </a:r>
            <a:endParaRPr lang="en-US" sz="1150" dirty="0"/>
          </a:p>
        </p:txBody>
      </p:sp>
      <p:sp>
        <p:nvSpPr>
          <p:cNvPr id="24" name="Text 19"/>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Reading the Reader · MSc Thesis Defense</a:t>
            </a:r>
            <a:endParaRPr lang="en-US" sz="900" dirty="0"/>
          </a:p>
        </p:txBody>
      </p:sp>
      <p:sp>
        <p:nvSpPr>
          <p:cNvPr id="25" name="Text 20"/>
          <p:cNvSpPr/>
          <p:nvPr/>
        </p:nvSpPr>
        <p:spPr>
          <a:xfrm>
            <a:off x="11091672" y="6473952"/>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20624"/>
            <a:ext cx="11091672" cy="274320"/>
          </a:xfrm>
          <a:prstGeom prst="rect">
            <a:avLst/>
          </a:prstGeom>
          <a:noFill/>
          <a:ln/>
        </p:spPr>
        <p:txBody>
          <a:bodyPr wrap="square" lIns="0" tIns="0" rIns="0" bIns="0" rtlCol="0" anchor="ctr"/>
          <a:lstStyle/>
          <a:p>
            <a:pPr indent="0" marL="0">
              <a:buNone/>
            </a:pPr>
            <a:r>
              <a:rPr lang="en-US" sz="1250" b="1" spc="250" kern="0" dirty="0">
                <a:solidFill>
                  <a:srgbClr val="990000"/>
                </a:solidFill>
                <a:latin typeface="Arial" pitchFamily="34" charset="0"/>
                <a:ea typeface="Arial" pitchFamily="34" charset="-122"/>
                <a:cs typeface="Arial" pitchFamily="34" charset="-120"/>
              </a:rPr>
              <a:t>ARCHITECTURE · RQ1</a:t>
            </a:r>
            <a:endParaRPr lang="en-US" sz="1250" dirty="0"/>
          </a:p>
        </p:txBody>
      </p:sp>
      <p:sp>
        <p:nvSpPr>
          <p:cNvPr id="3" name="Text 1"/>
          <p:cNvSpPr/>
          <p:nvPr/>
        </p:nvSpPr>
        <p:spPr>
          <a:xfrm>
            <a:off x="548640" y="676656"/>
            <a:ext cx="11091672" cy="777240"/>
          </a:xfrm>
          <a:prstGeom prst="rect">
            <a:avLst/>
          </a:prstGeom>
          <a:noFill/>
          <a:ln/>
        </p:spPr>
        <p:txBody>
          <a:bodyPr wrap="square" lIns="0" tIns="0" rIns="0" bIns="0" rtlCol="0" anchor="t"/>
          <a:lstStyle/>
          <a:p>
            <a:pPr indent="0" marL="0">
              <a:lnSpc>
                <a:spcPct val="98000"/>
              </a:lnSpc>
              <a:buNone/>
            </a:pPr>
            <a:r>
              <a:rPr lang="en-US" sz="2900" b="1" dirty="0">
                <a:solidFill>
                  <a:srgbClr val="1A1A1A"/>
                </a:solidFill>
                <a:latin typeface="Arial" pitchFamily="34" charset="0"/>
                <a:ea typeface="Arial" pitchFamily="34" charset="-122"/>
                <a:cs typeface="Arial" pitchFamily="34" charset="-120"/>
              </a:rPr>
              <a:t>Four modules behind stable contracts</a:t>
            </a:r>
            <a:endParaRPr lang="en-US" sz="2900" dirty="0"/>
          </a:p>
        </p:txBody>
      </p:sp>
      <p:sp>
        <p:nvSpPr>
          <p:cNvPr id="4" name="Shape 2"/>
          <p:cNvSpPr/>
          <p:nvPr/>
        </p:nvSpPr>
        <p:spPr>
          <a:xfrm>
            <a:off x="2103120" y="3941064"/>
            <a:ext cx="685800" cy="-77724"/>
          </a:xfrm>
          <a:prstGeom prst="line">
            <a:avLst/>
          </a:prstGeom>
          <a:noFill/>
          <a:ln w="25400">
            <a:solidFill>
              <a:srgbClr val="8A8F99"/>
            </a:solidFill>
            <a:prstDash val="solid"/>
            <a:tailEnd type="triangle"/>
          </a:ln>
        </p:spPr>
      </p:sp>
      <p:sp>
        <p:nvSpPr>
          <p:cNvPr id="5" name="Shape 3"/>
          <p:cNvSpPr/>
          <p:nvPr/>
        </p:nvSpPr>
        <p:spPr>
          <a:xfrm>
            <a:off x="3680460" y="2532888"/>
            <a:ext cx="0" cy="850392"/>
          </a:xfrm>
          <a:prstGeom prst="line">
            <a:avLst/>
          </a:prstGeom>
          <a:noFill/>
          <a:ln w="25400">
            <a:solidFill>
              <a:srgbClr val="8A8F99"/>
            </a:solidFill>
            <a:prstDash val="solid"/>
            <a:tailEnd type="triangle"/>
          </a:ln>
        </p:spPr>
      </p:sp>
      <p:sp>
        <p:nvSpPr>
          <p:cNvPr id="6" name="Shape 4"/>
          <p:cNvSpPr/>
          <p:nvPr/>
        </p:nvSpPr>
        <p:spPr>
          <a:xfrm>
            <a:off x="4572000" y="3863340"/>
            <a:ext cx="594360" cy="77724"/>
          </a:xfrm>
          <a:prstGeom prst="line">
            <a:avLst/>
          </a:prstGeom>
          <a:noFill/>
          <a:ln w="25400">
            <a:solidFill>
              <a:srgbClr val="8A8F99"/>
            </a:solidFill>
            <a:prstDash val="solid"/>
            <a:headEnd type="triangle"/>
          </a:ln>
        </p:spPr>
      </p:sp>
      <p:sp>
        <p:nvSpPr>
          <p:cNvPr id="7" name="Shape 5"/>
          <p:cNvSpPr/>
          <p:nvPr/>
        </p:nvSpPr>
        <p:spPr>
          <a:xfrm>
            <a:off x="3680460" y="4343400"/>
            <a:ext cx="0" cy="731520"/>
          </a:xfrm>
          <a:prstGeom prst="line">
            <a:avLst/>
          </a:prstGeom>
          <a:noFill/>
          <a:ln w="25400">
            <a:solidFill>
              <a:srgbClr val="8A8F99"/>
            </a:solidFill>
            <a:prstDash val="solid"/>
            <a:headEnd type="triangle"/>
          </a:ln>
        </p:spPr>
      </p:sp>
      <p:sp>
        <p:nvSpPr>
          <p:cNvPr id="8" name="Shape 6"/>
          <p:cNvSpPr/>
          <p:nvPr/>
        </p:nvSpPr>
        <p:spPr>
          <a:xfrm>
            <a:off x="2788920" y="3383280"/>
            <a:ext cx="1783080" cy="960120"/>
          </a:xfrm>
          <a:prstGeom prst="roundRect">
            <a:avLst>
              <a:gd name="adj" fmla="val 5714"/>
            </a:avLst>
          </a:prstGeom>
          <a:solidFill>
            <a:srgbClr val="030F4F"/>
          </a:solidFill>
          <a:ln/>
          <a:effectLst>
            <a:outerShdw sx="100000" sy="100000" kx="0" ky="0" algn="bl" rotWithShape="0" blurRad="88900" dist="38100" dir="5400000">
              <a:srgbClr val="000000">
                <a:alpha val="12000"/>
              </a:srgbClr>
            </a:outerShdw>
          </a:effectLst>
        </p:spPr>
      </p:sp>
      <p:sp>
        <p:nvSpPr>
          <p:cNvPr id="9" name="Text 7"/>
          <p:cNvSpPr/>
          <p:nvPr/>
        </p:nvSpPr>
        <p:spPr>
          <a:xfrm>
            <a:off x="2788920" y="3383280"/>
            <a:ext cx="178308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Application</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core</a:t>
            </a:r>
            <a:endParaRPr lang="en-US" sz="1300" dirty="0"/>
          </a:p>
        </p:txBody>
      </p:sp>
      <p:sp>
        <p:nvSpPr>
          <p:cNvPr id="10" name="Shape 8"/>
          <p:cNvSpPr/>
          <p:nvPr/>
        </p:nvSpPr>
        <p:spPr>
          <a:xfrm>
            <a:off x="868680" y="3657600"/>
            <a:ext cx="1234440" cy="566928"/>
          </a:xfrm>
          <a:prstGeom prst="roundRect">
            <a:avLst>
              <a:gd name="adj" fmla="val 8065"/>
            </a:avLst>
          </a:prstGeom>
          <a:solidFill>
            <a:srgbClr val="F6ECEC"/>
          </a:solidFill>
          <a:ln w="19050">
            <a:solidFill>
              <a:srgbClr val="990000"/>
            </a:solidFill>
            <a:prstDash val="solid"/>
          </a:ln>
        </p:spPr>
      </p:sp>
      <p:sp>
        <p:nvSpPr>
          <p:cNvPr id="11" name="Text 9"/>
          <p:cNvSpPr/>
          <p:nvPr/>
        </p:nvSpPr>
        <p:spPr>
          <a:xfrm>
            <a:off x="868680" y="3657600"/>
            <a:ext cx="1234440" cy="566928"/>
          </a:xfrm>
          <a:prstGeom prst="rect">
            <a:avLst/>
          </a:prstGeom>
          <a:noFill/>
          <a:ln/>
        </p:spPr>
        <p:txBody>
          <a:bodyPr wrap="square" lIns="0" tIns="0" rIns="0" bIns="0" rtlCol="0" anchor="ctr"/>
          <a:lstStyle/>
          <a:p>
            <a:pPr algn="ctr" indent="0" marL="0">
              <a:buNone/>
            </a:pPr>
            <a:r>
              <a:rPr lang="en-US" sz="1150" b="1" dirty="0">
                <a:solidFill>
                  <a:srgbClr val="990000"/>
                </a:solidFill>
                <a:latin typeface="Arial" pitchFamily="34" charset="0"/>
                <a:ea typeface="Arial" pitchFamily="34" charset="-122"/>
                <a:cs typeface="Arial" pitchFamily="34" charset="-120"/>
              </a:rPr>
              <a:t>Sensing</a:t>
            </a:r>
            <a:endParaRPr lang="en-US" sz="1150" dirty="0"/>
          </a:p>
        </p:txBody>
      </p:sp>
      <p:sp>
        <p:nvSpPr>
          <p:cNvPr id="12" name="Shape 10"/>
          <p:cNvSpPr/>
          <p:nvPr/>
        </p:nvSpPr>
        <p:spPr>
          <a:xfrm>
            <a:off x="2880360" y="1965960"/>
            <a:ext cx="1600200" cy="566928"/>
          </a:xfrm>
          <a:prstGeom prst="roundRect">
            <a:avLst>
              <a:gd name="adj" fmla="val 8065"/>
            </a:avLst>
          </a:prstGeom>
          <a:solidFill>
            <a:srgbClr val="F6ECEC"/>
          </a:solidFill>
          <a:ln w="19050">
            <a:solidFill>
              <a:srgbClr val="990000"/>
            </a:solidFill>
            <a:prstDash val="solid"/>
          </a:ln>
        </p:spPr>
      </p:sp>
      <p:sp>
        <p:nvSpPr>
          <p:cNvPr id="13" name="Text 11"/>
          <p:cNvSpPr/>
          <p:nvPr/>
        </p:nvSpPr>
        <p:spPr>
          <a:xfrm>
            <a:off x="2880360" y="1965960"/>
            <a:ext cx="1600200" cy="566928"/>
          </a:xfrm>
          <a:prstGeom prst="rect">
            <a:avLst/>
          </a:prstGeom>
          <a:noFill/>
          <a:ln/>
        </p:spPr>
        <p:txBody>
          <a:bodyPr wrap="square" lIns="0" tIns="0" rIns="0" bIns="0" rtlCol="0" anchor="ctr"/>
          <a:lstStyle/>
          <a:p>
            <a:pPr algn="ctr" indent="0" marL="0">
              <a:buNone/>
            </a:pPr>
            <a:r>
              <a:rPr lang="en-US" sz="1150" b="1" dirty="0">
                <a:solidFill>
                  <a:srgbClr val="990000"/>
                </a:solidFill>
                <a:latin typeface="Arial" pitchFamily="34" charset="0"/>
                <a:ea typeface="Arial" pitchFamily="34" charset="-122"/>
                <a:cs typeface="Arial" pitchFamily="34" charset="-120"/>
              </a:rPr>
              <a:t>Analysis</a:t>
            </a:r>
            <a:endParaRPr lang="en-US" sz="1150" dirty="0"/>
          </a:p>
        </p:txBody>
      </p:sp>
      <p:sp>
        <p:nvSpPr>
          <p:cNvPr id="14" name="Shape 12"/>
          <p:cNvSpPr/>
          <p:nvPr/>
        </p:nvSpPr>
        <p:spPr>
          <a:xfrm>
            <a:off x="5166360" y="3657600"/>
            <a:ext cx="1234440" cy="566928"/>
          </a:xfrm>
          <a:prstGeom prst="roundRect">
            <a:avLst>
              <a:gd name="adj" fmla="val 8065"/>
            </a:avLst>
          </a:prstGeom>
          <a:solidFill>
            <a:srgbClr val="F6ECEC"/>
          </a:solidFill>
          <a:ln w="19050">
            <a:solidFill>
              <a:srgbClr val="990000"/>
            </a:solidFill>
            <a:prstDash val="solid"/>
          </a:ln>
        </p:spPr>
      </p:sp>
      <p:sp>
        <p:nvSpPr>
          <p:cNvPr id="15" name="Text 13"/>
          <p:cNvSpPr/>
          <p:nvPr/>
        </p:nvSpPr>
        <p:spPr>
          <a:xfrm>
            <a:off x="5166360" y="3657600"/>
            <a:ext cx="1234440" cy="566928"/>
          </a:xfrm>
          <a:prstGeom prst="rect">
            <a:avLst/>
          </a:prstGeom>
          <a:noFill/>
          <a:ln/>
        </p:spPr>
        <p:txBody>
          <a:bodyPr wrap="square" lIns="0" tIns="0" rIns="0" bIns="0" rtlCol="0" anchor="ctr"/>
          <a:lstStyle/>
          <a:p>
            <a:pPr algn="ctr" indent="0" marL="0">
              <a:buNone/>
            </a:pPr>
            <a:r>
              <a:rPr lang="en-US" sz="1150" b="1" dirty="0">
                <a:solidFill>
                  <a:srgbClr val="990000"/>
                </a:solidFill>
                <a:latin typeface="Arial" pitchFamily="34" charset="0"/>
                <a:ea typeface="Arial" pitchFamily="34" charset="-122"/>
                <a:cs typeface="Arial" pitchFamily="34" charset="-120"/>
              </a:rPr>
              <a:t>Decision</a:t>
            </a:r>
            <a:endParaRPr lang="en-US" sz="1150" dirty="0"/>
          </a:p>
        </p:txBody>
      </p:sp>
      <p:sp>
        <p:nvSpPr>
          <p:cNvPr id="16" name="Shape 14"/>
          <p:cNvSpPr/>
          <p:nvPr/>
        </p:nvSpPr>
        <p:spPr>
          <a:xfrm>
            <a:off x="2743200" y="5074920"/>
            <a:ext cx="1874520" cy="566928"/>
          </a:xfrm>
          <a:prstGeom prst="roundRect">
            <a:avLst>
              <a:gd name="adj" fmla="val 8065"/>
            </a:avLst>
          </a:prstGeom>
          <a:solidFill>
            <a:srgbClr val="F6ECEC"/>
          </a:solidFill>
          <a:ln w="19050">
            <a:solidFill>
              <a:srgbClr val="990000"/>
            </a:solidFill>
            <a:prstDash val="solid"/>
          </a:ln>
        </p:spPr>
      </p:sp>
      <p:sp>
        <p:nvSpPr>
          <p:cNvPr id="17" name="Text 15"/>
          <p:cNvSpPr/>
          <p:nvPr/>
        </p:nvSpPr>
        <p:spPr>
          <a:xfrm>
            <a:off x="2743200" y="5074920"/>
            <a:ext cx="1874520" cy="566928"/>
          </a:xfrm>
          <a:prstGeom prst="rect">
            <a:avLst/>
          </a:prstGeom>
          <a:noFill/>
          <a:ln/>
        </p:spPr>
        <p:txBody>
          <a:bodyPr wrap="square" lIns="0" tIns="0" rIns="0" bIns="0" rtlCol="0" anchor="ctr"/>
          <a:lstStyle/>
          <a:p>
            <a:pPr algn="ctr" indent="0" marL="0">
              <a:buNone/>
            </a:pPr>
            <a:r>
              <a:rPr lang="en-US" sz="1150" b="1" dirty="0">
                <a:solidFill>
                  <a:srgbClr val="990000"/>
                </a:solidFill>
                <a:latin typeface="Arial" pitchFamily="34" charset="0"/>
                <a:ea typeface="Arial" pitchFamily="34" charset="-122"/>
                <a:cs typeface="Arial" pitchFamily="34" charset="-120"/>
              </a:rPr>
              <a:t>Intervention</a:t>
            </a:r>
            <a:endParaRPr lang="en-US" sz="1150" dirty="0"/>
          </a:p>
        </p:txBody>
      </p:sp>
      <p:sp>
        <p:nvSpPr>
          <p:cNvPr id="18" name="Text 16"/>
          <p:cNvSpPr/>
          <p:nvPr/>
        </p:nvSpPr>
        <p:spPr>
          <a:xfrm>
            <a:off x="731520" y="4261104"/>
            <a:ext cx="1508760" cy="274320"/>
          </a:xfrm>
          <a:prstGeom prst="rect">
            <a:avLst/>
          </a:prstGeom>
          <a:noFill/>
          <a:ln/>
        </p:spPr>
        <p:txBody>
          <a:bodyPr wrap="square" lIns="0" tIns="0" rIns="0" bIns="0" rtlCol="0" anchor="ctr"/>
          <a:lstStyle/>
          <a:p>
            <a:pPr algn="ctr" indent="0" marL="0">
              <a:buNone/>
            </a:pPr>
            <a:r>
              <a:rPr lang="en-US" sz="900" i="1" dirty="0">
                <a:solidFill>
                  <a:srgbClr val="6B7280"/>
                </a:solidFill>
                <a:latin typeface="Arial" pitchFamily="34" charset="0"/>
                <a:ea typeface="Arial" pitchFamily="34" charset="-122"/>
                <a:cs typeface="Arial" pitchFamily="34" charset="-120"/>
              </a:rPr>
              <a:t>Tobii  /  Simulated</a:t>
            </a:r>
            <a:endParaRPr lang="en-US" sz="900" dirty="0"/>
          </a:p>
        </p:txBody>
      </p:sp>
      <p:sp>
        <p:nvSpPr>
          <p:cNvPr id="19" name="Text 17"/>
          <p:cNvSpPr/>
          <p:nvPr/>
        </p:nvSpPr>
        <p:spPr>
          <a:xfrm>
            <a:off x="5029200" y="4261104"/>
            <a:ext cx="1508760" cy="274320"/>
          </a:xfrm>
          <a:prstGeom prst="rect">
            <a:avLst/>
          </a:prstGeom>
          <a:noFill/>
          <a:ln/>
        </p:spPr>
        <p:txBody>
          <a:bodyPr wrap="square" lIns="0" tIns="0" rIns="0" bIns="0" rtlCol="0" anchor="ctr"/>
          <a:lstStyle/>
          <a:p>
            <a:pPr algn="ctr" indent="0" marL="0">
              <a:buNone/>
            </a:pPr>
            <a:r>
              <a:rPr lang="en-US" sz="900" i="1" dirty="0">
                <a:solidFill>
                  <a:srgbClr val="6B7280"/>
                </a:solidFill>
                <a:latin typeface="Arial" pitchFamily="34" charset="0"/>
                <a:ea typeface="Arial" pitchFamily="34" charset="-122"/>
                <a:cs typeface="Arial" pitchFamily="34" charset="-120"/>
              </a:rPr>
              <a:t>Built-in  /  External</a:t>
            </a:r>
            <a:endParaRPr lang="en-US" sz="900" dirty="0"/>
          </a:p>
        </p:txBody>
      </p:sp>
      <p:sp>
        <p:nvSpPr>
          <p:cNvPr id="20" name="Text 18"/>
          <p:cNvSpPr/>
          <p:nvPr/>
        </p:nvSpPr>
        <p:spPr>
          <a:xfrm>
            <a:off x="731520" y="5943600"/>
            <a:ext cx="5852160" cy="457200"/>
          </a:xfrm>
          <a:prstGeom prst="rect">
            <a:avLst/>
          </a:prstGeom>
          <a:noFill/>
          <a:ln/>
        </p:spPr>
        <p:txBody>
          <a:bodyPr wrap="square" lIns="0" tIns="0" rIns="0" bIns="0" rtlCol="0" anchor="ctr"/>
          <a:lstStyle/>
          <a:p>
            <a:pPr algn="ctr" indent="0" marL="0">
              <a:lnSpc>
                <a:spcPct val="100000"/>
              </a:lnSpc>
              <a:buNone/>
            </a:pPr>
            <a:r>
              <a:rPr lang="en-US" sz="1050" i="1" dirty="0">
                <a:solidFill>
                  <a:srgbClr val="6B7280"/>
                </a:solidFill>
                <a:latin typeface="Arial" pitchFamily="34" charset="0"/>
                <a:ea typeface="Arial" pitchFamily="34" charset="-122"/>
                <a:cs typeface="Arial" pitchFamily="34" charset="-120"/>
              </a:rPr>
              <a:t>Grey arrows: implementations depend inward on ports the core owns. The core depends on nothing outside it.</a:t>
            </a:r>
            <a:endParaRPr lang="en-US" sz="1050" dirty="0"/>
          </a:p>
        </p:txBody>
      </p:sp>
      <p:sp>
        <p:nvSpPr>
          <p:cNvPr id="21" name="Text 19"/>
          <p:cNvSpPr/>
          <p:nvPr/>
        </p:nvSpPr>
        <p:spPr>
          <a:xfrm>
            <a:off x="7040880" y="1627632"/>
            <a:ext cx="4599432" cy="365760"/>
          </a:xfrm>
          <a:prstGeom prst="rect">
            <a:avLst/>
          </a:prstGeom>
          <a:noFill/>
          <a:ln/>
        </p:spPr>
        <p:txBody>
          <a:bodyPr wrap="square" lIns="0" tIns="0" rIns="0" bIns="0" rtlCol="0" anchor="ctr"/>
          <a:lstStyle/>
          <a:p>
            <a:pPr indent="0" marL="0">
              <a:buNone/>
            </a:pPr>
            <a:r>
              <a:rPr lang="en-US" sz="1500" b="1" dirty="0">
                <a:solidFill>
                  <a:srgbClr val="030F4F"/>
                </a:solidFill>
                <a:latin typeface="Arial" pitchFamily="34" charset="0"/>
                <a:ea typeface="Arial" pitchFamily="34" charset="-122"/>
                <a:cs typeface="Arial" pitchFamily="34" charset="-120"/>
              </a:rPr>
              <a:t>One contract shape, three intelligent seams</a:t>
            </a:r>
            <a:endParaRPr lang="en-US" sz="1500" dirty="0"/>
          </a:p>
        </p:txBody>
      </p:sp>
      <p:sp>
        <p:nvSpPr>
          <p:cNvPr id="22" name="Text 20"/>
          <p:cNvSpPr/>
          <p:nvPr/>
        </p:nvSpPr>
        <p:spPr>
          <a:xfrm>
            <a:off x="7040880" y="2084832"/>
            <a:ext cx="4599432" cy="4023360"/>
          </a:xfrm>
          <a:prstGeom prst="rect">
            <a:avLst/>
          </a:prstGeom>
          <a:noFill/>
          <a:ln/>
        </p:spPr>
        <p:txBody>
          <a:bodyPr wrap="square" rtlCol="0" anchor="t"/>
          <a:lstStyle/>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Each module takes an immutable snapshot and returns an optional result — a copy of what it needs, never the live state.</a:t>
            </a:r>
            <a:endParaRPr lang="en-US" sz="1450" dirty="0"/>
          </a:p>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So a module is replaceable without coordination and testable in isolation.</a:t>
            </a:r>
            <a:endParaRPr lang="en-US" sz="1450" dirty="0"/>
          </a:p>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Adding one is additive: a new implementation, one registration, no edit to the reading runtime.</a:t>
            </a:r>
            <a:endParaRPr lang="en-US" sz="1450" dirty="0"/>
          </a:p>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Because sensing speaks gaze samples (not Tobii types), the whole loop runs on a simulated source with no hardware.</a:t>
            </a:r>
            <a:endParaRPr lang="en-US" sz="1450" dirty="0"/>
          </a:p>
        </p:txBody>
      </p:sp>
      <p:sp>
        <p:nvSpPr>
          <p:cNvPr id="24" name="Text 21"/>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Reading the Reader · MSc Thesis Defense</a:t>
            </a:r>
            <a:endParaRPr lang="en-US" sz="900" dirty="0"/>
          </a:p>
        </p:txBody>
      </p:sp>
      <p:sp>
        <p:nvSpPr>
          <p:cNvPr id="25" name="Text 22"/>
          <p:cNvSpPr/>
          <p:nvPr/>
        </p:nvSpPr>
        <p:spPr>
          <a:xfrm>
            <a:off x="11091672" y="6473952"/>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20624"/>
            <a:ext cx="11091672" cy="274320"/>
          </a:xfrm>
          <a:prstGeom prst="rect">
            <a:avLst/>
          </a:prstGeom>
          <a:noFill/>
          <a:ln/>
        </p:spPr>
        <p:txBody>
          <a:bodyPr wrap="square" lIns="0" tIns="0" rIns="0" bIns="0" rtlCol="0" anchor="ctr"/>
          <a:lstStyle/>
          <a:p>
            <a:pPr indent="0" marL="0">
              <a:buNone/>
            </a:pPr>
            <a:r>
              <a:rPr lang="en-US" sz="1250" b="1" spc="250" kern="0" dirty="0">
                <a:solidFill>
                  <a:srgbClr val="990000"/>
                </a:solidFill>
                <a:latin typeface="Arial" pitchFamily="34" charset="0"/>
                <a:ea typeface="Arial" pitchFamily="34" charset="-122"/>
                <a:cs typeface="Arial" pitchFamily="34" charset="-120"/>
              </a:rPr>
              <a:t>ARCHITECTURE · RQ2 / RQ3</a:t>
            </a:r>
            <a:endParaRPr lang="en-US" sz="1250" dirty="0"/>
          </a:p>
        </p:txBody>
      </p:sp>
      <p:sp>
        <p:nvSpPr>
          <p:cNvPr id="3" name="Text 1"/>
          <p:cNvSpPr/>
          <p:nvPr/>
        </p:nvSpPr>
        <p:spPr>
          <a:xfrm>
            <a:off x="548640" y="676656"/>
            <a:ext cx="11091672" cy="777240"/>
          </a:xfrm>
          <a:prstGeom prst="rect">
            <a:avLst/>
          </a:prstGeom>
          <a:noFill/>
          <a:ln/>
        </p:spPr>
        <p:txBody>
          <a:bodyPr wrap="square" lIns="0" tIns="0" rIns="0" bIns="0" rtlCol="0" anchor="t"/>
          <a:lstStyle/>
          <a:p>
            <a:pPr indent="0" marL="0">
              <a:lnSpc>
                <a:spcPct val="98000"/>
              </a:lnSpc>
              <a:buNone/>
            </a:pPr>
            <a:r>
              <a:rPr lang="en-US" sz="2900" b="1" dirty="0">
                <a:solidFill>
                  <a:srgbClr val="1A1A1A"/>
                </a:solidFill>
                <a:latin typeface="Arial" pitchFamily="34" charset="0"/>
                <a:ea typeface="Arial" pitchFamily="34" charset="-122"/>
                <a:cs typeface="Arial" pitchFamily="34" charset="-120"/>
              </a:rPr>
              <a:t>Liveness without breaking the seams</a:t>
            </a:r>
            <a:endParaRPr lang="en-US" sz="2900" dirty="0"/>
          </a:p>
        </p:txBody>
      </p:sp>
      <p:pic>
        <p:nvPicPr>
          <p:cNvPr id="4" name="Image 0" descr="/private/tmp/claude-501/-Users-sachinbaral-Masters-Thesis-reading-the-reader-monorepo/02f0224a-f714-4962-9dde-d5ef8518d867/scratchpad/deck-assets/loop.png">    </p:cNvPr>
          <p:cNvPicPr>
            <a:picLocks noChangeAspect="1"/>
          </p:cNvPicPr>
          <p:nvPr/>
        </p:nvPicPr>
        <p:blipFill>
          <a:blip r:embed="rId1"/>
          <a:stretch>
            <a:fillRect/>
          </a:stretch>
        </p:blipFill>
        <p:spPr>
          <a:xfrm>
            <a:off x="548640" y="1581912"/>
            <a:ext cx="3495212" cy="4617720"/>
          </a:xfrm>
          <a:prstGeom prst="rect">
            <a:avLst/>
          </a:prstGeom>
        </p:spPr>
      </p:pic>
      <p:sp>
        <p:nvSpPr>
          <p:cNvPr id="5" name="Text 2"/>
          <p:cNvSpPr/>
          <p:nvPr/>
        </p:nvSpPr>
        <p:spPr>
          <a:xfrm>
            <a:off x="5852160" y="1627632"/>
            <a:ext cx="5788152" cy="640080"/>
          </a:xfrm>
          <a:prstGeom prst="rect">
            <a:avLst/>
          </a:prstGeom>
          <a:noFill/>
          <a:ln/>
        </p:spPr>
        <p:txBody>
          <a:bodyPr wrap="square" lIns="0" tIns="0" rIns="0" bIns="0" rtlCol="0" anchor="ctr"/>
          <a:lstStyle/>
          <a:p>
            <a:pPr indent="0" marL="0">
              <a:lnSpc>
                <a:spcPct val="105000"/>
              </a:lnSpc>
              <a:buNone/>
            </a:pPr>
            <a:r>
              <a:rPr lang="en-US" sz="1400" dirty="0">
                <a:solidFill>
                  <a:srgbClr val="1A1A1A"/>
                </a:solidFill>
                <a:latin typeface="Arial" pitchFamily="34" charset="0"/>
                <a:ea typeface="Arial" pitchFamily="34" charset="-122"/>
                <a:cs typeface="Arial" pitchFamily="34" charset="-120"/>
              </a:rPr>
              <a:t>The clean per-concern indirection is rarely the fastest at runtime. We reconcile separation with speed:</a:t>
            </a:r>
            <a:endParaRPr lang="en-US" sz="1400" dirty="0"/>
          </a:p>
        </p:txBody>
      </p:sp>
      <p:sp>
        <p:nvSpPr>
          <p:cNvPr id="6" name="Shape 3"/>
          <p:cNvSpPr/>
          <p:nvPr/>
        </p:nvSpPr>
        <p:spPr>
          <a:xfrm>
            <a:off x="5852160" y="2423160"/>
            <a:ext cx="402336" cy="402336"/>
          </a:xfrm>
          <a:prstGeom prst="ellipse">
            <a:avLst/>
          </a:prstGeom>
          <a:solidFill>
            <a:srgbClr val="990000"/>
          </a:solidFill>
          <a:ln/>
        </p:spPr>
      </p:sp>
      <p:sp>
        <p:nvSpPr>
          <p:cNvPr id="7" name="Text 4"/>
          <p:cNvSpPr/>
          <p:nvPr/>
        </p:nvSpPr>
        <p:spPr>
          <a:xfrm>
            <a:off x="5852160" y="242316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5"/>
          <p:cNvSpPr/>
          <p:nvPr/>
        </p:nvSpPr>
        <p:spPr>
          <a:xfrm>
            <a:off x="6419088" y="2368296"/>
            <a:ext cx="5221224" cy="329184"/>
          </a:xfrm>
          <a:prstGeom prst="rect">
            <a:avLst/>
          </a:prstGeom>
          <a:noFill/>
          <a:ln/>
        </p:spPr>
        <p:txBody>
          <a:bodyPr wrap="square" lIns="0" tIns="0" rIns="0" bIns="0" rtlCol="0" anchor="ctr"/>
          <a:lstStyle/>
          <a:p>
            <a:pPr indent="0" marL="0">
              <a:buNone/>
            </a:pPr>
            <a:r>
              <a:rPr lang="en-US" sz="1450" b="1" dirty="0">
                <a:solidFill>
                  <a:srgbClr val="030F4F"/>
                </a:solidFill>
                <a:latin typeface="Arial" pitchFamily="34" charset="0"/>
                <a:ea typeface="Arial" pitchFamily="34" charset="-122"/>
                <a:cs typeface="Arial" pitchFamily="34" charset="-120"/>
              </a:rPr>
              <a:t>Two timescales</a:t>
            </a:r>
            <a:endParaRPr lang="en-US" sz="1450" dirty="0"/>
          </a:p>
        </p:txBody>
      </p:sp>
      <p:sp>
        <p:nvSpPr>
          <p:cNvPr id="9" name="Text 6"/>
          <p:cNvSpPr/>
          <p:nvPr/>
        </p:nvSpPr>
        <p:spPr>
          <a:xfrm>
            <a:off x="6419088" y="2715768"/>
            <a:ext cx="5221224" cy="914400"/>
          </a:xfrm>
          <a:prstGeom prst="rect">
            <a:avLst/>
          </a:prstGeom>
          <a:noFill/>
          <a:ln/>
        </p:spPr>
        <p:txBody>
          <a:bodyPr wrap="square" lIns="0" tIns="0" rIns="0" bIns="0" rtlCol="0" anchor="t"/>
          <a:lstStyle/>
          <a:p>
            <a:pPr indent="0" marL="0">
              <a:lnSpc>
                <a:spcPct val="105000"/>
              </a:lnSpc>
              <a:buNone/>
            </a:pPr>
            <a:r>
              <a:rPr lang="en-US" sz="1250" dirty="0">
                <a:solidFill>
                  <a:srgbClr val="1A1A1A"/>
                </a:solidFill>
                <a:latin typeface="Arial" pitchFamily="34" charset="0"/>
                <a:ea typeface="Arial" pitchFamily="34" charset="-122"/>
                <a:cs typeface="Arial" pitchFamily="34" charset="-120"/>
              </a:rPr>
              <a:t>High-frequency gaze rides a dedicated real-time channel and is only sanitised, retained, and broadcast — never blocked on the slower control path.</a:t>
            </a:r>
            <a:endParaRPr lang="en-US" sz="1250" dirty="0"/>
          </a:p>
        </p:txBody>
      </p:sp>
      <p:sp>
        <p:nvSpPr>
          <p:cNvPr id="10" name="Shape 7"/>
          <p:cNvSpPr/>
          <p:nvPr/>
        </p:nvSpPr>
        <p:spPr>
          <a:xfrm>
            <a:off x="5852160" y="3721608"/>
            <a:ext cx="402336" cy="402336"/>
          </a:xfrm>
          <a:prstGeom prst="ellipse">
            <a:avLst/>
          </a:prstGeom>
          <a:solidFill>
            <a:srgbClr val="990000"/>
          </a:solidFill>
          <a:ln/>
        </p:spPr>
      </p:sp>
      <p:sp>
        <p:nvSpPr>
          <p:cNvPr id="11" name="Text 8"/>
          <p:cNvSpPr/>
          <p:nvPr/>
        </p:nvSpPr>
        <p:spPr>
          <a:xfrm>
            <a:off x="5852160" y="372160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9"/>
          <p:cNvSpPr/>
          <p:nvPr/>
        </p:nvSpPr>
        <p:spPr>
          <a:xfrm>
            <a:off x="6419088" y="3666744"/>
            <a:ext cx="5221224" cy="329184"/>
          </a:xfrm>
          <a:prstGeom prst="rect">
            <a:avLst/>
          </a:prstGeom>
          <a:noFill/>
          <a:ln/>
        </p:spPr>
        <p:txBody>
          <a:bodyPr wrap="square" lIns="0" tIns="0" rIns="0" bIns="0" rtlCol="0" anchor="ctr"/>
          <a:lstStyle/>
          <a:p>
            <a:pPr indent="0" marL="0">
              <a:buNone/>
            </a:pPr>
            <a:r>
              <a:rPr lang="en-US" sz="1450" b="1" dirty="0">
                <a:solidFill>
                  <a:srgbClr val="030F4F"/>
                </a:solidFill>
                <a:latin typeface="Arial" pitchFamily="34" charset="0"/>
                <a:ea typeface="Arial" pitchFamily="34" charset="-122"/>
                <a:cs typeface="Arial" pitchFamily="34" charset="-120"/>
              </a:rPr>
              <a:t>Modularity off the hot path</a:t>
            </a:r>
            <a:endParaRPr lang="en-US" sz="1450" dirty="0"/>
          </a:p>
        </p:txBody>
      </p:sp>
      <p:sp>
        <p:nvSpPr>
          <p:cNvPr id="13" name="Text 10"/>
          <p:cNvSpPr/>
          <p:nvPr/>
        </p:nvSpPr>
        <p:spPr>
          <a:xfrm>
            <a:off x="6419088" y="4014216"/>
            <a:ext cx="5221224" cy="914400"/>
          </a:xfrm>
          <a:prstGeom prst="rect">
            <a:avLst/>
          </a:prstGeom>
          <a:noFill/>
          <a:ln/>
        </p:spPr>
        <p:txBody>
          <a:bodyPr wrap="square" lIns="0" tIns="0" rIns="0" bIns="0" rtlCol="0" anchor="t"/>
          <a:lstStyle/>
          <a:p>
            <a:pPr indent="0" marL="0">
              <a:lnSpc>
                <a:spcPct val="105000"/>
              </a:lnSpc>
              <a:buNone/>
            </a:pPr>
            <a:r>
              <a:rPr lang="en-US" sz="1250" dirty="0">
                <a:solidFill>
                  <a:srgbClr val="1A1A1A"/>
                </a:solidFill>
                <a:latin typeface="Arial" pitchFamily="34" charset="0"/>
                <a:ea typeface="Arial" pitchFamily="34" charset="-122"/>
                <a:cs typeface="Arial" pitchFamily="34" charset="-120"/>
              </a:rPr>
              <a:t>Analysis, decision, and intervention run at the cadence of analysed-state changes, so the indirection stays off the per-sample path.</a:t>
            </a:r>
            <a:endParaRPr lang="en-US" sz="1250" dirty="0"/>
          </a:p>
        </p:txBody>
      </p:sp>
      <p:sp>
        <p:nvSpPr>
          <p:cNvPr id="14" name="Shape 11"/>
          <p:cNvSpPr/>
          <p:nvPr/>
        </p:nvSpPr>
        <p:spPr>
          <a:xfrm>
            <a:off x="5852160" y="5020056"/>
            <a:ext cx="402336" cy="402336"/>
          </a:xfrm>
          <a:prstGeom prst="ellipse">
            <a:avLst/>
          </a:prstGeom>
          <a:solidFill>
            <a:srgbClr val="990000"/>
          </a:solidFill>
          <a:ln/>
        </p:spPr>
      </p:sp>
      <p:sp>
        <p:nvSpPr>
          <p:cNvPr id="15" name="Text 12"/>
          <p:cNvSpPr/>
          <p:nvPr/>
        </p:nvSpPr>
        <p:spPr>
          <a:xfrm>
            <a:off x="5852160" y="5020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6" name="Text 13"/>
          <p:cNvSpPr/>
          <p:nvPr/>
        </p:nvSpPr>
        <p:spPr>
          <a:xfrm>
            <a:off x="6419088" y="4965192"/>
            <a:ext cx="5221224" cy="329184"/>
          </a:xfrm>
          <a:prstGeom prst="rect">
            <a:avLst/>
          </a:prstGeom>
          <a:noFill/>
          <a:ln/>
        </p:spPr>
        <p:txBody>
          <a:bodyPr wrap="square" lIns="0" tIns="0" rIns="0" bIns="0" rtlCol="0" anchor="ctr"/>
          <a:lstStyle/>
          <a:p>
            <a:pPr indent="0" marL="0">
              <a:buNone/>
            </a:pPr>
            <a:r>
              <a:rPr lang="en-US" sz="1450" b="1" dirty="0">
                <a:solidFill>
                  <a:srgbClr val="030F4F"/>
                </a:solidFill>
                <a:latin typeface="Arial" pitchFamily="34" charset="0"/>
                <a:ea typeface="Arial" pitchFamily="34" charset="-122"/>
                <a:cs typeface="Arial" pitchFamily="34" charset="-120"/>
              </a:rPr>
              <a:t>Two-phase commit</a:t>
            </a:r>
            <a:endParaRPr lang="en-US" sz="1450" dirty="0"/>
          </a:p>
        </p:txBody>
      </p:sp>
      <p:sp>
        <p:nvSpPr>
          <p:cNvPr id="17" name="Text 14"/>
          <p:cNvSpPr/>
          <p:nvPr/>
        </p:nvSpPr>
        <p:spPr>
          <a:xfrm>
            <a:off x="6419088" y="5312664"/>
            <a:ext cx="5221224" cy="914400"/>
          </a:xfrm>
          <a:prstGeom prst="rect">
            <a:avLst/>
          </a:prstGeom>
          <a:noFill/>
          <a:ln/>
        </p:spPr>
        <p:txBody>
          <a:bodyPr wrap="square" lIns="0" tIns="0" rIns="0" bIns="0" rtlCol="0" anchor="t"/>
          <a:lstStyle/>
          <a:p>
            <a:pPr indent="0" marL="0">
              <a:lnSpc>
                <a:spcPct val="105000"/>
              </a:lnSpc>
              <a:buNone/>
            </a:pPr>
            <a:r>
              <a:rPr lang="en-US" sz="1250" dirty="0">
                <a:solidFill>
                  <a:srgbClr val="1A1A1A"/>
                </a:solidFill>
                <a:latin typeface="Arial" pitchFamily="34" charset="0"/>
                <a:ea typeface="Arial" pitchFamily="34" charset="-122"/>
                <a:cs typeface="Arial" pitchFamily="34" charset="-120"/>
              </a:rPr>
              <a:t>An intervention is validated, then committed at a controlled boundary carrying a position anchor — adapt the text, keep the reader's place (RQ3).</a:t>
            </a:r>
            <a:endParaRPr lang="en-US" sz="1250" dirty="0"/>
          </a:p>
        </p:txBody>
      </p:sp>
      <p:sp>
        <p:nvSpPr>
          <p:cNvPr id="19" name="Text 15"/>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Reading the Reader · MSc Thesis Defense</a:t>
            </a:r>
            <a:endParaRPr lang="en-US" sz="900" dirty="0"/>
          </a:p>
        </p:txBody>
      </p:sp>
      <p:sp>
        <p:nvSpPr>
          <p:cNvPr id="20" name="Text 16"/>
          <p:cNvSpPr/>
          <p:nvPr/>
        </p:nvSpPr>
        <p:spPr>
          <a:xfrm>
            <a:off x="11091672" y="6473952"/>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20624"/>
            <a:ext cx="11091672" cy="274320"/>
          </a:xfrm>
          <a:prstGeom prst="rect">
            <a:avLst/>
          </a:prstGeom>
          <a:noFill/>
          <a:ln/>
        </p:spPr>
        <p:txBody>
          <a:bodyPr wrap="square" lIns="0" tIns="0" rIns="0" bIns="0" rtlCol="0" anchor="ctr"/>
          <a:lstStyle/>
          <a:p>
            <a:pPr indent="0" marL="0">
              <a:buNone/>
            </a:pPr>
            <a:r>
              <a:rPr lang="en-US" sz="1250" b="1" spc="250" kern="0" dirty="0">
                <a:solidFill>
                  <a:srgbClr val="990000"/>
                </a:solidFill>
                <a:latin typeface="Arial" pitchFamily="34" charset="0"/>
                <a:ea typeface="Arial" pitchFamily="34" charset="-122"/>
                <a:cs typeface="Arial" pitchFamily="34" charset="-120"/>
              </a:rPr>
              <a:t>ARCHITECTURE · RQ1 / RQ4</a:t>
            </a:r>
            <a:endParaRPr lang="en-US" sz="1250" dirty="0"/>
          </a:p>
        </p:txBody>
      </p:sp>
      <p:sp>
        <p:nvSpPr>
          <p:cNvPr id="3" name="Text 1"/>
          <p:cNvSpPr/>
          <p:nvPr/>
        </p:nvSpPr>
        <p:spPr>
          <a:xfrm>
            <a:off x="548640" y="676656"/>
            <a:ext cx="11091672" cy="777240"/>
          </a:xfrm>
          <a:prstGeom prst="rect">
            <a:avLst/>
          </a:prstGeom>
          <a:noFill/>
          <a:ln/>
        </p:spPr>
        <p:txBody>
          <a:bodyPr wrap="square" lIns="0" tIns="0" rIns="0" bIns="0" rtlCol="0" anchor="t"/>
          <a:lstStyle/>
          <a:p>
            <a:pPr indent="0" marL="0">
              <a:lnSpc>
                <a:spcPct val="98000"/>
              </a:lnSpc>
              <a:buNone/>
            </a:pPr>
            <a:r>
              <a:rPr lang="en-US" sz="2900" b="1" dirty="0">
                <a:solidFill>
                  <a:srgbClr val="1A1A1A"/>
                </a:solidFill>
                <a:latin typeface="Arial" pitchFamily="34" charset="0"/>
                <a:ea typeface="Arial" pitchFamily="34" charset="-122"/>
                <a:cs typeface="Arial" pitchFamily="34" charset="-120"/>
              </a:rPr>
              <a:t>Pluggable decisions, researcher in control</a:t>
            </a:r>
            <a:endParaRPr lang="en-US" sz="2900" dirty="0"/>
          </a:p>
        </p:txBody>
      </p:sp>
      <p:pic>
        <p:nvPicPr>
          <p:cNvPr id="4" name="Image 0" descr="/private/tmp/claude-501/-Users-sachinbaral-Masters-Thesis-reading-the-reader-monorepo/02f0224a-f714-4962-9dde-d5ef8518d867/scratchpad/deck-assets/seam.png">    </p:cNvPr>
          <p:cNvPicPr>
            <a:picLocks noChangeAspect="1"/>
          </p:cNvPicPr>
          <p:nvPr/>
        </p:nvPicPr>
        <p:blipFill>
          <a:blip r:embed="rId1"/>
          <a:stretch>
            <a:fillRect/>
          </a:stretch>
        </p:blipFill>
        <p:spPr>
          <a:xfrm>
            <a:off x="548640" y="1581912"/>
            <a:ext cx="3947763" cy="4572000"/>
          </a:xfrm>
          <a:prstGeom prst="rect">
            <a:avLst/>
          </a:prstGeom>
        </p:spPr>
      </p:pic>
      <p:sp>
        <p:nvSpPr>
          <p:cNvPr id="5" name="Text 2"/>
          <p:cNvSpPr/>
          <p:nvPr/>
        </p:nvSpPr>
        <p:spPr>
          <a:xfrm>
            <a:off x="5577840" y="1627632"/>
            <a:ext cx="6062472" cy="2468880"/>
          </a:xfrm>
          <a:prstGeom prst="rect">
            <a:avLst/>
          </a:prstGeom>
          <a:noFill/>
          <a:ln/>
        </p:spPr>
        <p:txBody>
          <a:bodyPr wrap="square" rtlCol="0" anchor="t"/>
          <a:lstStyle/>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An external provider registers for a module's identity and connects out-of-process; the gateway routes context out and ingests the proposal back.</a:t>
            </a:r>
            <a:endParaRPr lang="en-US" sz="1450" dirty="0"/>
          </a:p>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If no provider is attached, the same concern falls back to the built-in implementation — the loop runs unchanged either way.</a:t>
            </a:r>
            <a:endParaRPr lang="en-US" sz="1450" dirty="0"/>
          </a:p>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Decision is the seam most likely externalised: the platform sends signals, expects a proposal back, and stays silent on how the proposal is reached.</a:t>
            </a:r>
            <a:endParaRPr lang="en-US" sz="1450" dirty="0"/>
          </a:p>
        </p:txBody>
      </p:sp>
      <p:sp>
        <p:nvSpPr>
          <p:cNvPr id="6" name="Shape 3"/>
          <p:cNvSpPr/>
          <p:nvPr/>
        </p:nvSpPr>
        <p:spPr>
          <a:xfrm>
            <a:off x="5577840" y="4325112"/>
            <a:ext cx="6062472" cy="1600200"/>
          </a:xfrm>
          <a:prstGeom prst="roundRect">
            <a:avLst>
              <a:gd name="adj" fmla="val 4000"/>
            </a:avLst>
          </a:prstGeom>
          <a:solidFill>
            <a:srgbClr val="ECEEF4"/>
          </a:solidFill>
          <a:ln w="12700">
            <a:solidFill>
              <a:srgbClr val="D6DAE2"/>
            </a:solidFill>
            <a:prstDash val="solid"/>
          </a:ln>
        </p:spPr>
      </p:sp>
      <p:sp>
        <p:nvSpPr>
          <p:cNvPr id="7" name="Text 4"/>
          <p:cNvSpPr/>
          <p:nvPr/>
        </p:nvSpPr>
        <p:spPr>
          <a:xfrm>
            <a:off x="5833872" y="4480560"/>
            <a:ext cx="5550408" cy="310896"/>
          </a:xfrm>
          <a:prstGeom prst="rect">
            <a:avLst/>
          </a:prstGeom>
          <a:noFill/>
          <a:ln/>
        </p:spPr>
        <p:txBody>
          <a:bodyPr wrap="square" lIns="0" tIns="0" rIns="0" bIns="0" rtlCol="0" anchor="ctr"/>
          <a:lstStyle/>
          <a:p>
            <a:pPr indent="0" marL="0">
              <a:buNone/>
            </a:pPr>
            <a:r>
              <a:rPr lang="en-US" sz="1350" b="1" dirty="0">
                <a:solidFill>
                  <a:srgbClr val="030F4F"/>
                </a:solidFill>
                <a:latin typeface="Arial" pitchFamily="34" charset="0"/>
                <a:ea typeface="Arial" pitchFamily="34" charset="-122"/>
                <a:cs typeface="Arial" pitchFamily="34" charset="-120"/>
              </a:rPr>
              <a:t>A spectrum of human authority</a:t>
            </a:r>
            <a:endParaRPr lang="en-US" sz="1350" dirty="0"/>
          </a:p>
        </p:txBody>
      </p:sp>
      <p:sp>
        <p:nvSpPr>
          <p:cNvPr id="8" name="Text 5"/>
          <p:cNvSpPr/>
          <p:nvPr/>
        </p:nvSpPr>
        <p:spPr>
          <a:xfrm>
            <a:off x="5833872" y="4828032"/>
            <a:ext cx="5550408" cy="320040"/>
          </a:xfrm>
          <a:prstGeom prst="rect">
            <a:avLst/>
          </a:prstGeom>
          <a:noFill/>
          <a:ln/>
        </p:spPr>
        <p:txBody>
          <a:bodyPr wrap="square" lIns="0" tIns="0" rIns="0" bIns="0" rtlCol="0" anchor="ctr"/>
          <a:lstStyle/>
          <a:p>
            <a:pPr indent="0" marL="0">
              <a:buNone/>
            </a:pPr>
            <a:r>
              <a:rPr lang="en-US" sz="1300" b="1" dirty="0">
                <a:solidFill>
                  <a:srgbClr val="990000"/>
                </a:solidFill>
                <a:latin typeface="Arial" pitchFamily="34" charset="0"/>
                <a:ea typeface="Arial" pitchFamily="34" charset="-122"/>
                <a:cs typeface="Arial" pitchFamily="34" charset="-120"/>
              </a:rPr>
              <a:t>Manual</a:t>
            </a:r>
            <a:pPr indent="0" marL="0">
              <a:buNone/>
            </a:pPr>
            <a:r>
              <a:rPr lang="en-US" sz="1300" dirty="0">
                <a:solidFill>
                  <a:srgbClr val="6B7280"/>
                </a:solidFill>
                <a:latin typeface="Arial" pitchFamily="34" charset="0"/>
                <a:ea typeface="Arial" pitchFamily="34" charset="-122"/>
                <a:cs typeface="Arial" pitchFamily="34" charset="-120"/>
              </a:rPr>
              <a:t>  →  </a:t>
            </a:r>
            <a:pPr indent="0" marL="0">
              <a:buNone/>
            </a:pPr>
            <a:r>
              <a:rPr lang="en-US" sz="1300" b="1" dirty="0">
                <a:solidFill>
                  <a:srgbClr val="990000"/>
                </a:solidFill>
                <a:latin typeface="Arial" pitchFamily="34" charset="0"/>
                <a:ea typeface="Arial" pitchFamily="34" charset="-122"/>
                <a:cs typeface="Arial" pitchFamily="34" charset="-120"/>
              </a:rPr>
              <a:t>Advisory</a:t>
            </a:r>
            <a:pPr indent="0" marL="0">
              <a:buNone/>
            </a:pPr>
            <a:r>
              <a:rPr lang="en-US" sz="1300" dirty="0">
                <a:solidFill>
                  <a:srgbClr val="6B7280"/>
                </a:solidFill>
                <a:latin typeface="Arial" pitchFamily="34" charset="0"/>
                <a:ea typeface="Arial" pitchFamily="34" charset="-122"/>
                <a:cs typeface="Arial" pitchFamily="34" charset="-120"/>
              </a:rPr>
              <a:t> (approve / reject)  →  </a:t>
            </a:r>
            <a:pPr indent="0" marL="0">
              <a:buNone/>
            </a:pPr>
            <a:r>
              <a:rPr lang="en-US" sz="1300" b="1" dirty="0">
                <a:solidFill>
                  <a:srgbClr val="990000"/>
                </a:solidFill>
                <a:latin typeface="Arial" pitchFamily="34" charset="0"/>
                <a:ea typeface="Arial" pitchFamily="34" charset="-122"/>
                <a:cs typeface="Arial" pitchFamily="34" charset="-120"/>
              </a:rPr>
              <a:t>Autonomous</a:t>
            </a:r>
            <a:endParaRPr lang="en-US" sz="1300" dirty="0"/>
          </a:p>
        </p:txBody>
      </p:sp>
      <p:sp>
        <p:nvSpPr>
          <p:cNvPr id="9" name="Text 6"/>
          <p:cNvSpPr/>
          <p:nvPr/>
        </p:nvSpPr>
        <p:spPr>
          <a:xfrm>
            <a:off x="5833872" y="5157216"/>
            <a:ext cx="5550408" cy="640080"/>
          </a:xfrm>
          <a:prstGeom prst="rect">
            <a:avLst/>
          </a:prstGeom>
          <a:noFill/>
          <a:ln/>
        </p:spPr>
        <p:txBody>
          <a:bodyPr wrap="square" lIns="0" tIns="0" rIns="0" bIns="0" rtlCol="0" anchor="ctr"/>
          <a:lstStyle/>
          <a:p>
            <a:pPr indent="0" marL="0">
              <a:lnSpc>
                <a:spcPct val="105000"/>
              </a:lnSpc>
              <a:buNone/>
            </a:pPr>
            <a:r>
              <a:rPr lang="en-US" sz="1150" i="1" dirty="0">
                <a:solidFill>
                  <a:srgbClr val="1A1A1A"/>
                </a:solidFill>
                <a:latin typeface="Arial" pitchFamily="34" charset="0"/>
                <a:ea typeface="Arial" pitchFamily="34" charset="-122"/>
                <a:cs typeface="Arial" pitchFamily="34" charset="-120"/>
              </a:rPr>
              <a:t>Every proposal enters one pending state and resolves to exactly one recorded outcome — so control is auditable after the session, not just exercised during it.</a:t>
            </a:r>
            <a:endParaRPr lang="en-US" sz="1150" dirty="0"/>
          </a:p>
        </p:txBody>
      </p:sp>
      <p:sp>
        <p:nvSpPr>
          <p:cNvPr id="11" name="Text 7"/>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Reading the Reader · MSc Thesis Defense</a:t>
            </a:r>
            <a:endParaRPr lang="en-US" sz="900" dirty="0"/>
          </a:p>
        </p:txBody>
      </p:sp>
      <p:sp>
        <p:nvSpPr>
          <p:cNvPr id="12" name="Text 8"/>
          <p:cNvSpPr/>
          <p:nvPr/>
        </p:nvSpPr>
        <p:spPr>
          <a:xfrm>
            <a:off x="11091672" y="6473952"/>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30F4F"/>
        </a:solidFill>
      </p:bgPr>
    </p:bg>
    <p:spTree>
      <p:nvGrpSpPr>
        <p:cNvPr id="1" name=""/>
        <p:cNvGrpSpPr/>
        <p:nvPr/>
      </p:nvGrpSpPr>
      <p:grpSpPr>
        <a:xfrm>
          <a:off x="0" y="0"/>
          <a:ext cx="0" cy="0"/>
          <a:chOff x="0" y="0"/>
          <a:chExt cx="0" cy="0"/>
        </a:xfrm>
      </p:grpSpPr>
      <p:sp>
        <p:nvSpPr>
          <p:cNvPr id="2" name="Shape 0"/>
          <p:cNvSpPr/>
          <p:nvPr/>
        </p:nvSpPr>
        <p:spPr>
          <a:xfrm>
            <a:off x="9966960" y="4023360"/>
            <a:ext cx="3657600" cy="3657600"/>
          </a:xfrm>
          <a:prstGeom prst="ellipse">
            <a:avLst/>
          </a:prstGeom>
          <a:solidFill>
            <a:srgbClr val="990000">
              <a:alpha val="20000"/>
            </a:srgbClr>
          </a:solidFill>
          <a:ln/>
        </p:spPr>
      </p:sp>
      <p:sp>
        <p:nvSpPr>
          <p:cNvPr id="3" name="Text 1"/>
          <p:cNvSpPr/>
          <p:nvPr/>
        </p:nvSpPr>
        <p:spPr>
          <a:xfrm>
            <a:off x="548640" y="502920"/>
            <a:ext cx="10058400" cy="320040"/>
          </a:xfrm>
          <a:prstGeom prst="rect">
            <a:avLst/>
          </a:prstGeom>
          <a:noFill/>
          <a:ln/>
        </p:spPr>
        <p:txBody>
          <a:bodyPr wrap="square" lIns="0" tIns="0" rIns="0" bIns="0" rtlCol="0" anchor="ctr"/>
          <a:lstStyle/>
          <a:p>
            <a:pPr indent="0" marL="0">
              <a:buNone/>
            </a:pPr>
            <a:r>
              <a:rPr lang="en-US" sz="1300" b="1" spc="250" kern="0" dirty="0">
                <a:solidFill>
                  <a:srgbClr val="9FB0FF"/>
                </a:solidFill>
                <a:latin typeface="Arial" pitchFamily="34" charset="0"/>
                <a:ea typeface="Arial" pitchFamily="34" charset="-122"/>
                <a:cs typeface="Arial" pitchFamily="34" charset="-120"/>
              </a:rPr>
              <a:t>LIVE DEMONSTRATION  ·  ~7–8 MIN</a:t>
            </a:r>
            <a:endParaRPr lang="en-US" sz="1300" dirty="0"/>
          </a:p>
        </p:txBody>
      </p:sp>
      <p:sp>
        <p:nvSpPr>
          <p:cNvPr id="4" name="Text 2"/>
          <p:cNvSpPr/>
          <p:nvPr/>
        </p:nvSpPr>
        <p:spPr>
          <a:xfrm>
            <a:off x="548640" y="868680"/>
            <a:ext cx="10058400"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The platform, running</a:t>
            </a:r>
            <a:endParaRPr lang="en-US" sz="3400" dirty="0"/>
          </a:p>
        </p:txBody>
      </p:sp>
      <p:sp>
        <p:nvSpPr>
          <p:cNvPr id="5" name="Shape 3"/>
          <p:cNvSpPr/>
          <p:nvPr/>
        </p:nvSpPr>
        <p:spPr>
          <a:xfrm>
            <a:off x="548640" y="1783080"/>
            <a:ext cx="6766560" cy="786384"/>
          </a:xfrm>
          <a:prstGeom prst="roundRect">
            <a:avLst>
              <a:gd name="adj" fmla="val 8140"/>
            </a:avLst>
          </a:prstGeom>
          <a:solidFill>
            <a:srgbClr val="0C1A57"/>
          </a:solidFill>
          <a:ln/>
        </p:spPr>
      </p:sp>
      <p:sp>
        <p:nvSpPr>
          <p:cNvPr id="6" name="Shape 4"/>
          <p:cNvSpPr/>
          <p:nvPr/>
        </p:nvSpPr>
        <p:spPr>
          <a:xfrm>
            <a:off x="731520" y="1947672"/>
            <a:ext cx="457200" cy="457200"/>
          </a:xfrm>
          <a:prstGeom prst="ellipse">
            <a:avLst/>
          </a:prstGeom>
          <a:solidFill>
            <a:srgbClr val="990000"/>
          </a:solidFill>
          <a:ln/>
        </p:spPr>
      </p:sp>
      <p:sp>
        <p:nvSpPr>
          <p:cNvPr id="7" name="Text 5"/>
          <p:cNvSpPr/>
          <p:nvPr/>
        </p:nvSpPr>
        <p:spPr>
          <a:xfrm>
            <a:off x="731520" y="19476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371600" y="1883664"/>
            <a:ext cx="5760720" cy="31089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Two screens, live</a:t>
            </a:r>
            <a:endParaRPr lang="en-US" sz="1400" dirty="0"/>
          </a:p>
        </p:txBody>
      </p:sp>
      <p:sp>
        <p:nvSpPr>
          <p:cNvPr id="9" name="Text 7"/>
          <p:cNvSpPr/>
          <p:nvPr/>
        </p:nvSpPr>
        <p:spPr>
          <a:xfrm>
            <a:off x="1371600" y="2185416"/>
            <a:ext cx="5760720" cy="310896"/>
          </a:xfrm>
          <a:prstGeom prst="rect">
            <a:avLst/>
          </a:prstGeom>
          <a:noFill/>
          <a:ln/>
        </p:spPr>
        <p:txBody>
          <a:bodyPr wrap="square" lIns="0" tIns="0" rIns="0" bIns="0" rtlCol="0" anchor="ctr"/>
          <a:lstStyle/>
          <a:p>
            <a:pPr indent="0" marL="0">
              <a:buNone/>
            </a:pPr>
            <a:r>
              <a:rPr lang="en-US" sz="1100" dirty="0">
                <a:solidFill>
                  <a:srgbClr val="C2CAE0"/>
                </a:solidFill>
                <a:latin typeface="Arial" pitchFamily="34" charset="0"/>
                <a:ea typeface="Arial" pitchFamily="34" charset="-122"/>
                <a:cs typeface="Arial" pitchFamily="34" charset="-120"/>
              </a:rPr>
              <a:t>Participant reads; console mirrors gaze (heat map + saccades)</a:t>
            </a:r>
            <a:endParaRPr lang="en-US" sz="1100" dirty="0"/>
          </a:p>
        </p:txBody>
      </p:sp>
      <p:sp>
        <p:nvSpPr>
          <p:cNvPr id="10" name="Shape 8"/>
          <p:cNvSpPr/>
          <p:nvPr/>
        </p:nvSpPr>
        <p:spPr>
          <a:xfrm>
            <a:off x="548640" y="2660904"/>
            <a:ext cx="6766560" cy="786384"/>
          </a:xfrm>
          <a:prstGeom prst="roundRect">
            <a:avLst>
              <a:gd name="adj" fmla="val 8140"/>
            </a:avLst>
          </a:prstGeom>
          <a:solidFill>
            <a:srgbClr val="0C1A57"/>
          </a:solidFill>
          <a:ln/>
        </p:spPr>
      </p:sp>
      <p:sp>
        <p:nvSpPr>
          <p:cNvPr id="11" name="Shape 9"/>
          <p:cNvSpPr/>
          <p:nvPr/>
        </p:nvSpPr>
        <p:spPr>
          <a:xfrm>
            <a:off x="731520" y="2825496"/>
            <a:ext cx="457200" cy="457200"/>
          </a:xfrm>
          <a:prstGeom prst="ellipse">
            <a:avLst/>
          </a:prstGeom>
          <a:solidFill>
            <a:srgbClr val="990000"/>
          </a:solidFill>
          <a:ln/>
        </p:spPr>
      </p:sp>
      <p:sp>
        <p:nvSpPr>
          <p:cNvPr id="12" name="Text 10"/>
          <p:cNvSpPr/>
          <p:nvPr/>
        </p:nvSpPr>
        <p:spPr>
          <a:xfrm>
            <a:off x="731520" y="28254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p:nvPr/>
        </p:nvSpPr>
        <p:spPr>
          <a:xfrm>
            <a:off x="1371600" y="2761488"/>
            <a:ext cx="5760720" cy="31089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Advisory proposal</a:t>
            </a:r>
            <a:endParaRPr lang="en-US" sz="1400" dirty="0"/>
          </a:p>
        </p:txBody>
      </p:sp>
      <p:sp>
        <p:nvSpPr>
          <p:cNvPr id="14" name="Text 12"/>
          <p:cNvSpPr/>
          <p:nvPr/>
        </p:nvSpPr>
        <p:spPr>
          <a:xfrm>
            <a:off x="1371600" y="3063240"/>
            <a:ext cx="5760720" cy="310896"/>
          </a:xfrm>
          <a:prstGeom prst="rect">
            <a:avLst/>
          </a:prstGeom>
          <a:noFill/>
          <a:ln/>
        </p:spPr>
        <p:txBody>
          <a:bodyPr wrap="square" lIns="0" tIns="0" rIns="0" bIns="0" rtlCol="0" anchor="ctr"/>
          <a:lstStyle/>
          <a:p>
            <a:pPr indent="0" marL="0">
              <a:buNone/>
            </a:pPr>
            <a:r>
              <a:rPr lang="en-US" sz="1100" dirty="0">
                <a:solidFill>
                  <a:srgbClr val="C2CAE0"/>
                </a:solidFill>
                <a:latin typeface="Arial" pitchFamily="34" charset="0"/>
                <a:ea typeface="Arial" pitchFamily="34" charset="-122"/>
                <a:cs typeface="Arial" pitchFamily="34" charset="-120"/>
              </a:rPr>
              <a:t>Strategy proposes; researcher approves / rejects / overrides</a:t>
            </a:r>
            <a:endParaRPr lang="en-US" sz="1100" dirty="0"/>
          </a:p>
        </p:txBody>
      </p:sp>
      <p:sp>
        <p:nvSpPr>
          <p:cNvPr id="15" name="Shape 13"/>
          <p:cNvSpPr/>
          <p:nvPr/>
        </p:nvSpPr>
        <p:spPr>
          <a:xfrm>
            <a:off x="548640" y="3538728"/>
            <a:ext cx="6766560" cy="786384"/>
          </a:xfrm>
          <a:prstGeom prst="roundRect">
            <a:avLst>
              <a:gd name="adj" fmla="val 8140"/>
            </a:avLst>
          </a:prstGeom>
          <a:solidFill>
            <a:srgbClr val="0C1A57"/>
          </a:solidFill>
          <a:ln/>
        </p:spPr>
      </p:sp>
      <p:sp>
        <p:nvSpPr>
          <p:cNvPr id="16" name="Shape 14"/>
          <p:cNvSpPr/>
          <p:nvPr/>
        </p:nvSpPr>
        <p:spPr>
          <a:xfrm>
            <a:off x="731520" y="3703320"/>
            <a:ext cx="457200" cy="457200"/>
          </a:xfrm>
          <a:prstGeom prst="ellipse">
            <a:avLst/>
          </a:prstGeom>
          <a:solidFill>
            <a:srgbClr val="990000"/>
          </a:solidFill>
          <a:ln/>
        </p:spPr>
      </p:sp>
      <p:sp>
        <p:nvSpPr>
          <p:cNvPr id="17" name="Text 15"/>
          <p:cNvSpPr/>
          <p:nvPr/>
        </p:nvSpPr>
        <p:spPr>
          <a:xfrm>
            <a:off x="731520" y="37033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6"/>
          <p:cNvSpPr/>
          <p:nvPr/>
        </p:nvSpPr>
        <p:spPr>
          <a:xfrm>
            <a:off x="1371600" y="3639312"/>
            <a:ext cx="5760720" cy="31089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Context-preserving commit</a:t>
            </a:r>
            <a:endParaRPr lang="en-US" sz="1400" dirty="0"/>
          </a:p>
        </p:txBody>
      </p:sp>
      <p:sp>
        <p:nvSpPr>
          <p:cNvPr id="19" name="Text 17"/>
          <p:cNvSpPr/>
          <p:nvPr/>
        </p:nvSpPr>
        <p:spPr>
          <a:xfrm>
            <a:off x="1371600" y="3941064"/>
            <a:ext cx="5760720" cy="310896"/>
          </a:xfrm>
          <a:prstGeom prst="rect">
            <a:avLst/>
          </a:prstGeom>
          <a:noFill/>
          <a:ln/>
        </p:spPr>
        <p:txBody>
          <a:bodyPr wrap="square" lIns="0" tIns="0" rIns="0" bIns="0" rtlCol="0" anchor="ctr"/>
          <a:lstStyle/>
          <a:p>
            <a:pPr indent="0" marL="0">
              <a:buNone/>
            </a:pPr>
            <a:r>
              <a:rPr lang="en-US" sz="1100" dirty="0">
                <a:solidFill>
                  <a:srgbClr val="C2CAE0"/>
                </a:solidFill>
                <a:latin typeface="Arial" pitchFamily="34" charset="0"/>
                <a:ea typeface="Arial" pitchFamily="34" charset="-122"/>
                <a:cs typeface="Arial" pitchFamily="34" charset="-120"/>
              </a:rPr>
              <a:t>Text adapts; reader keeps place; resume-time instrumented</a:t>
            </a:r>
            <a:endParaRPr lang="en-US" sz="1100" dirty="0"/>
          </a:p>
        </p:txBody>
      </p:sp>
      <p:sp>
        <p:nvSpPr>
          <p:cNvPr id="20" name="Shape 18"/>
          <p:cNvSpPr/>
          <p:nvPr/>
        </p:nvSpPr>
        <p:spPr>
          <a:xfrm>
            <a:off x="548640" y="4416552"/>
            <a:ext cx="6766560" cy="786384"/>
          </a:xfrm>
          <a:prstGeom prst="roundRect">
            <a:avLst>
              <a:gd name="adj" fmla="val 8140"/>
            </a:avLst>
          </a:prstGeom>
          <a:solidFill>
            <a:srgbClr val="0C1A57"/>
          </a:solidFill>
          <a:ln/>
        </p:spPr>
      </p:sp>
      <p:sp>
        <p:nvSpPr>
          <p:cNvPr id="21" name="Shape 19"/>
          <p:cNvSpPr/>
          <p:nvPr/>
        </p:nvSpPr>
        <p:spPr>
          <a:xfrm>
            <a:off x="731520" y="4581144"/>
            <a:ext cx="457200" cy="457200"/>
          </a:xfrm>
          <a:prstGeom prst="ellipse">
            <a:avLst/>
          </a:prstGeom>
          <a:solidFill>
            <a:srgbClr val="990000"/>
          </a:solidFill>
          <a:ln/>
        </p:spPr>
      </p:sp>
      <p:sp>
        <p:nvSpPr>
          <p:cNvPr id="22" name="Text 20"/>
          <p:cNvSpPr/>
          <p:nvPr/>
        </p:nvSpPr>
        <p:spPr>
          <a:xfrm>
            <a:off x="731520" y="458114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3" name="Text 21"/>
          <p:cNvSpPr/>
          <p:nvPr/>
        </p:nvSpPr>
        <p:spPr>
          <a:xfrm>
            <a:off x="1371600" y="4517136"/>
            <a:ext cx="5760720" cy="31089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Swap a module</a:t>
            </a:r>
            <a:endParaRPr lang="en-US" sz="1400" dirty="0"/>
          </a:p>
        </p:txBody>
      </p:sp>
      <p:sp>
        <p:nvSpPr>
          <p:cNvPr id="24" name="Text 22"/>
          <p:cNvSpPr/>
          <p:nvPr/>
        </p:nvSpPr>
        <p:spPr>
          <a:xfrm>
            <a:off x="1371600" y="4818888"/>
            <a:ext cx="5760720" cy="310896"/>
          </a:xfrm>
          <a:prstGeom prst="rect">
            <a:avLst/>
          </a:prstGeom>
          <a:noFill/>
          <a:ln/>
        </p:spPr>
        <p:txBody>
          <a:bodyPr wrap="square" lIns="0" tIns="0" rIns="0" bIns="0" rtlCol="0" anchor="ctr"/>
          <a:lstStyle/>
          <a:p>
            <a:pPr indent="0" marL="0">
              <a:buNone/>
            </a:pPr>
            <a:r>
              <a:rPr lang="en-US" sz="1100" dirty="0">
                <a:solidFill>
                  <a:srgbClr val="C2CAE0"/>
                </a:solidFill>
                <a:latin typeface="Arial" pitchFamily="34" charset="0"/>
                <a:ea typeface="Arial" pitchFamily="34" charset="-122"/>
                <a:cs typeface="Arial" pitchFamily="34" charset="-120"/>
              </a:rPr>
              <a:t>Same contract — simulated source / external provider, core untouched</a:t>
            </a:r>
            <a:endParaRPr lang="en-US" sz="1100" dirty="0"/>
          </a:p>
        </p:txBody>
      </p:sp>
      <p:sp>
        <p:nvSpPr>
          <p:cNvPr id="25" name="Shape 23"/>
          <p:cNvSpPr/>
          <p:nvPr/>
        </p:nvSpPr>
        <p:spPr>
          <a:xfrm>
            <a:off x="548640" y="5294376"/>
            <a:ext cx="6766560" cy="786384"/>
          </a:xfrm>
          <a:prstGeom prst="roundRect">
            <a:avLst>
              <a:gd name="adj" fmla="val 8140"/>
            </a:avLst>
          </a:prstGeom>
          <a:solidFill>
            <a:srgbClr val="0C1A57"/>
          </a:solidFill>
          <a:ln/>
        </p:spPr>
      </p:sp>
      <p:sp>
        <p:nvSpPr>
          <p:cNvPr id="26" name="Shape 24"/>
          <p:cNvSpPr/>
          <p:nvPr/>
        </p:nvSpPr>
        <p:spPr>
          <a:xfrm>
            <a:off x="731520" y="5458968"/>
            <a:ext cx="457200" cy="457200"/>
          </a:xfrm>
          <a:prstGeom prst="ellipse">
            <a:avLst/>
          </a:prstGeom>
          <a:solidFill>
            <a:srgbClr val="990000"/>
          </a:solidFill>
          <a:ln/>
        </p:spPr>
      </p:sp>
      <p:sp>
        <p:nvSpPr>
          <p:cNvPr id="27" name="Text 25"/>
          <p:cNvSpPr/>
          <p:nvPr/>
        </p:nvSpPr>
        <p:spPr>
          <a:xfrm>
            <a:off x="731520" y="54589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8" name="Text 26"/>
          <p:cNvSpPr/>
          <p:nvPr/>
        </p:nvSpPr>
        <p:spPr>
          <a:xfrm>
            <a:off x="1371600" y="5394960"/>
            <a:ext cx="5760720" cy="31089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Replay the record</a:t>
            </a:r>
            <a:endParaRPr lang="en-US" sz="1400" dirty="0"/>
          </a:p>
        </p:txBody>
      </p:sp>
      <p:sp>
        <p:nvSpPr>
          <p:cNvPr id="29" name="Text 27"/>
          <p:cNvSpPr/>
          <p:nvPr/>
        </p:nvSpPr>
        <p:spPr>
          <a:xfrm>
            <a:off x="1371600" y="5696712"/>
            <a:ext cx="5760720" cy="310896"/>
          </a:xfrm>
          <a:prstGeom prst="rect">
            <a:avLst/>
          </a:prstGeom>
          <a:noFill/>
          <a:ln/>
        </p:spPr>
        <p:txBody>
          <a:bodyPr wrap="square" lIns="0" tIns="0" rIns="0" bIns="0" rtlCol="0" anchor="ctr"/>
          <a:lstStyle/>
          <a:p>
            <a:pPr indent="0" marL="0">
              <a:buNone/>
            </a:pPr>
            <a:r>
              <a:rPr lang="en-US" sz="1100" dirty="0">
                <a:solidFill>
                  <a:srgbClr val="C2CAE0"/>
                </a:solidFill>
                <a:latin typeface="Arial" pitchFamily="34" charset="0"/>
                <a:ea typeface="Arial" pitchFamily="34" charset="-122"/>
                <a:cs typeface="Arial" pitchFamily="34" charset="-120"/>
              </a:rPr>
              <a:t>Re-import an exported session — every number came from here</a:t>
            </a:r>
            <a:endParaRPr lang="en-US" sz="1100" dirty="0"/>
          </a:p>
        </p:txBody>
      </p:sp>
      <p:sp>
        <p:nvSpPr>
          <p:cNvPr id="30" name="Shape 28"/>
          <p:cNvSpPr/>
          <p:nvPr/>
        </p:nvSpPr>
        <p:spPr>
          <a:xfrm>
            <a:off x="7525512" y="1856232"/>
            <a:ext cx="2798152" cy="2276856"/>
          </a:xfrm>
          <a:prstGeom prst="rect">
            <a:avLst/>
          </a:prstGeom>
          <a:solidFill>
            <a:srgbClr val="FFFFFF"/>
          </a:solidFill>
          <a:ln w="12700">
            <a:solidFill>
              <a:srgbClr val="D6DAE2"/>
            </a:solidFill>
            <a:prstDash val="solid"/>
          </a:ln>
          <a:effectLst>
            <a:outerShdw sx="100000" sy="100000" kx="0" ky="0" algn="bl" rotWithShape="0" blurRad="88900" dist="38100" dir="5400000">
              <a:srgbClr val="000000">
                <a:alpha val="12000"/>
              </a:srgbClr>
            </a:outerShdw>
          </a:effectLst>
        </p:spPr>
      </p:sp>
      <p:pic>
        <p:nvPicPr>
          <p:cNvPr id="31" name="Image 0" descr="/private/tmp/claude-501/-Users-sachinbaral-Masters-Thesis-reading-the-reader-monorepo/02f0224a-f714-4962-9dde-d5ef8518d867/scratchpad/deck-assets/ui-researcher.png">    </p:cNvPr>
          <p:cNvPicPr>
            <a:picLocks noChangeAspect="1"/>
          </p:cNvPicPr>
          <p:nvPr/>
        </p:nvPicPr>
        <p:blipFill>
          <a:blip r:embed="rId1"/>
          <a:stretch>
            <a:fillRect/>
          </a:stretch>
        </p:blipFill>
        <p:spPr>
          <a:xfrm>
            <a:off x="7543800" y="1874520"/>
            <a:ext cx="2761576" cy="2240280"/>
          </a:xfrm>
          <a:prstGeom prst="rect">
            <a:avLst/>
          </a:prstGeom>
        </p:spPr>
      </p:pic>
      <p:sp>
        <p:nvSpPr>
          <p:cNvPr id="32" name="Shape 29"/>
          <p:cNvSpPr/>
          <p:nvPr/>
        </p:nvSpPr>
        <p:spPr>
          <a:xfrm>
            <a:off x="7525512" y="4279392"/>
            <a:ext cx="2458970" cy="1819656"/>
          </a:xfrm>
          <a:prstGeom prst="rect">
            <a:avLst/>
          </a:prstGeom>
          <a:solidFill>
            <a:srgbClr val="FFFFFF"/>
          </a:solidFill>
          <a:ln w="12700">
            <a:solidFill>
              <a:srgbClr val="D6DAE2"/>
            </a:solidFill>
            <a:prstDash val="solid"/>
          </a:ln>
          <a:effectLst>
            <a:outerShdw sx="100000" sy="100000" kx="0" ky="0" algn="bl" rotWithShape="0" blurRad="88900" dist="38100" dir="5400000">
              <a:srgbClr val="000000">
                <a:alpha val="12000"/>
              </a:srgbClr>
            </a:outerShdw>
          </a:effectLst>
        </p:spPr>
      </p:sp>
      <p:pic>
        <p:nvPicPr>
          <p:cNvPr id="33" name="Image 1" descr="/private/tmp/claude-501/-Users-sachinbaral-Masters-Thesis-reading-the-reader-monorepo/02f0224a-f714-4962-9dde-d5ef8518d867/scratchpad/deck-assets/ui-replay.png">    </p:cNvPr>
          <p:cNvPicPr>
            <a:picLocks noChangeAspect="1"/>
          </p:cNvPicPr>
          <p:nvPr/>
        </p:nvPicPr>
        <p:blipFill>
          <a:blip r:embed="rId2"/>
          <a:stretch>
            <a:fillRect/>
          </a:stretch>
        </p:blipFill>
        <p:spPr>
          <a:xfrm>
            <a:off x="7543800" y="4297680"/>
            <a:ext cx="2422394" cy="1783080"/>
          </a:xfrm>
          <a:prstGeom prst="rect">
            <a:avLst/>
          </a:prstGeom>
        </p:spPr>
      </p:pic>
      <p:sp>
        <p:nvSpPr>
          <p:cNvPr id="35" name="Text 30"/>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9AA3B2"/>
                </a:solidFill>
                <a:latin typeface="Arial" pitchFamily="34" charset="0"/>
                <a:ea typeface="Arial" pitchFamily="34" charset="-122"/>
                <a:cs typeface="Arial" pitchFamily="34" charset="-120"/>
              </a:rPr>
              <a:t>Reading the Reader · MSc Thesis Defense</a:t>
            </a:r>
            <a:endParaRPr lang="en-US" sz="900" dirty="0"/>
          </a:p>
        </p:txBody>
      </p:sp>
      <p:sp>
        <p:nvSpPr>
          <p:cNvPr id="36" name="Text 31"/>
          <p:cNvSpPr/>
          <p:nvPr/>
        </p:nvSpPr>
        <p:spPr>
          <a:xfrm>
            <a:off x="11091672" y="6473952"/>
            <a:ext cx="548640" cy="274320"/>
          </a:xfrm>
          <a:prstGeom prst="rect">
            <a:avLst/>
          </a:prstGeom>
          <a:noFill/>
          <a:ln/>
        </p:spPr>
        <p:txBody>
          <a:bodyPr wrap="square" lIns="0" tIns="0" rIns="0" bIns="0" rtlCol="0" anchor="ctr"/>
          <a:lstStyle/>
          <a:p>
            <a:pPr algn="r" indent="0" marL="0">
              <a:buNone/>
            </a:pPr>
            <a:r>
              <a:rPr lang="en-US" sz="900" dirty="0">
                <a:solidFill>
                  <a:srgbClr val="9AA3B2"/>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20624"/>
            <a:ext cx="11091672" cy="274320"/>
          </a:xfrm>
          <a:prstGeom prst="rect">
            <a:avLst/>
          </a:prstGeom>
          <a:noFill/>
          <a:ln/>
        </p:spPr>
        <p:txBody>
          <a:bodyPr wrap="square" lIns="0" tIns="0" rIns="0" bIns="0" rtlCol="0" anchor="ctr"/>
          <a:lstStyle/>
          <a:p>
            <a:pPr indent="0" marL="0">
              <a:buNone/>
            </a:pPr>
            <a:r>
              <a:rPr lang="en-US" sz="1250" b="1" spc="250" kern="0" dirty="0">
                <a:solidFill>
                  <a:srgbClr val="990000"/>
                </a:solidFill>
                <a:latin typeface="Arial" pitchFamily="34" charset="0"/>
                <a:ea typeface="Arial" pitchFamily="34" charset="-122"/>
                <a:cs typeface="Arial" pitchFamily="34" charset="-120"/>
              </a:rPr>
              <a:t>EVALUATION · RQ1 / RQ2</a:t>
            </a:r>
            <a:endParaRPr lang="en-US" sz="1250" dirty="0"/>
          </a:p>
        </p:txBody>
      </p:sp>
      <p:sp>
        <p:nvSpPr>
          <p:cNvPr id="3" name="Text 1"/>
          <p:cNvSpPr/>
          <p:nvPr/>
        </p:nvSpPr>
        <p:spPr>
          <a:xfrm>
            <a:off x="548640" y="676656"/>
            <a:ext cx="11091672" cy="777240"/>
          </a:xfrm>
          <a:prstGeom prst="rect">
            <a:avLst/>
          </a:prstGeom>
          <a:noFill/>
          <a:ln/>
        </p:spPr>
        <p:txBody>
          <a:bodyPr wrap="square" lIns="0" tIns="0" rIns="0" bIns="0" rtlCol="0" anchor="t"/>
          <a:lstStyle/>
          <a:p>
            <a:pPr indent="0" marL="0">
              <a:lnSpc>
                <a:spcPct val="98000"/>
              </a:lnSpc>
              <a:buNone/>
            </a:pPr>
            <a:r>
              <a:rPr lang="en-US" sz="2900" b="1" dirty="0">
                <a:solidFill>
                  <a:srgbClr val="1A1A1A"/>
                </a:solidFill>
                <a:latin typeface="Arial" pitchFamily="34" charset="0"/>
                <a:ea typeface="Arial" pitchFamily="34" charset="-122"/>
                <a:cs typeface="Arial" pitchFamily="34" charset="-120"/>
              </a:rPr>
              <a:t>The seams hold; the pipeline is fast enough</a:t>
            </a:r>
            <a:endParaRPr lang="en-US" sz="2900" dirty="0"/>
          </a:p>
        </p:txBody>
      </p:sp>
      <p:sp>
        <p:nvSpPr>
          <p:cNvPr id="4" name="Text 2"/>
          <p:cNvSpPr/>
          <p:nvPr/>
        </p:nvSpPr>
        <p:spPr>
          <a:xfrm>
            <a:off x="548640" y="1627632"/>
            <a:ext cx="5486400" cy="365760"/>
          </a:xfrm>
          <a:prstGeom prst="rect">
            <a:avLst/>
          </a:prstGeom>
          <a:noFill/>
          <a:ln/>
        </p:spPr>
        <p:txBody>
          <a:bodyPr wrap="square" lIns="0" tIns="0" rIns="0" bIns="0" rtlCol="0" anchor="ctr"/>
          <a:lstStyle/>
          <a:p>
            <a:pPr indent="0" marL="0">
              <a:buNone/>
            </a:pPr>
            <a:r>
              <a:rPr lang="en-US" sz="1450" b="1" dirty="0">
                <a:solidFill>
                  <a:srgbClr val="030F4F"/>
                </a:solidFill>
                <a:latin typeface="Arial" pitchFamily="34" charset="0"/>
                <a:ea typeface="Arial" pitchFamily="34" charset="-122"/>
                <a:cs typeface="Arial" pitchFamily="34" charset="-120"/>
              </a:rPr>
              <a:t>RQ1 — Modularity, where it is hard to fake</a:t>
            </a:r>
            <a:endParaRPr lang="en-US" sz="1450" dirty="0"/>
          </a:p>
        </p:txBody>
      </p:sp>
      <p:sp>
        <p:nvSpPr>
          <p:cNvPr id="5" name="Shape 3"/>
          <p:cNvSpPr/>
          <p:nvPr/>
        </p:nvSpPr>
        <p:spPr>
          <a:xfrm>
            <a:off x="548640" y="2130552"/>
            <a:ext cx="5486400" cy="841248"/>
          </a:xfrm>
          <a:prstGeom prst="roundRect">
            <a:avLst>
              <a:gd name="adj" fmla="val 7609"/>
            </a:avLst>
          </a:prstGeom>
          <a:solidFill>
            <a:srgbClr val="F4F5F7"/>
          </a:solidFill>
          <a:ln w="12700">
            <a:solidFill>
              <a:srgbClr val="D6DAE2"/>
            </a:solidFill>
            <a:prstDash val="solid"/>
          </a:ln>
        </p:spPr>
      </p:sp>
      <p:sp>
        <p:nvSpPr>
          <p:cNvPr id="6" name="Text 4"/>
          <p:cNvSpPr/>
          <p:nvPr/>
        </p:nvSpPr>
        <p:spPr>
          <a:xfrm>
            <a:off x="713232" y="2130552"/>
            <a:ext cx="457200" cy="841248"/>
          </a:xfrm>
          <a:prstGeom prst="rect">
            <a:avLst/>
          </a:prstGeom>
          <a:noFill/>
          <a:ln/>
        </p:spPr>
        <p:txBody>
          <a:bodyPr wrap="square" lIns="0" tIns="0" rIns="0" bIns="0" rtlCol="0" anchor="ctr"/>
          <a:lstStyle/>
          <a:p>
            <a:pPr algn="ctr" indent="0" marL="0">
              <a:buNone/>
            </a:pPr>
            <a:r>
              <a:rPr lang="en-US" sz="1800" b="1" dirty="0">
                <a:solidFill>
                  <a:srgbClr val="2E7D32"/>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1207008" y="2130552"/>
            <a:ext cx="4663440" cy="841248"/>
          </a:xfrm>
          <a:prstGeom prst="rect">
            <a:avLst/>
          </a:prstGeom>
          <a:noFill/>
          <a:ln/>
        </p:spPr>
        <p:txBody>
          <a:bodyPr wrap="square" lIns="0" tIns="0" rIns="0" bIns="0" rtlCol="0" anchor="ctr"/>
          <a:lstStyle/>
          <a:p>
            <a:pPr indent="0" marL="0">
              <a:lnSpc>
                <a:spcPct val="102000"/>
              </a:lnSpc>
              <a:buNone/>
            </a:pPr>
            <a:r>
              <a:rPr lang="en-US" sz="1250" dirty="0">
                <a:solidFill>
                  <a:srgbClr val="1A1A1A"/>
                </a:solidFill>
                <a:latin typeface="Arial" pitchFamily="34" charset="0"/>
                <a:ea typeface="Arial" pitchFamily="34" charset="-122"/>
                <a:cs typeface="Arial" pitchFamily="34" charset="-120"/>
              </a:rPr>
              <a:t>The core's dependency rule is enforced by the build and checked by an executable test.</a:t>
            </a:r>
            <a:endParaRPr lang="en-US" sz="1250" dirty="0"/>
          </a:p>
        </p:txBody>
      </p:sp>
      <p:sp>
        <p:nvSpPr>
          <p:cNvPr id="8" name="Shape 6"/>
          <p:cNvSpPr/>
          <p:nvPr/>
        </p:nvSpPr>
        <p:spPr>
          <a:xfrm>
            <a:off x="548640" y="3090672"/>
            <a:ext cx="5486400" cy="841248"/>
          </a:xfrm>
          <a:prstGeom prst="roundRect">
            <a:avLst>
              <a:gd name="adj" fmla="val 7609"/>
            </a:avLst>
          </a:prstGeom>
          <a:solidFill>
            <a:srgbClr val="F4F5F7"/>
          </a:solidFill>
          <a:ln w="12700">
            <a:solidFill>
              <a:srgbClr val="D6DAE2"/>
            </a:solidFill>
            <a:prstDash val="solid"/>
          </a:ln>
        </p:spPr>
      </p:sp>
      <p:sp>
        <p:nvSpPr>
          <p:cNvPr id="9" name="Text 7"/>
          <p:cNvSpPr/>
          <p:nvPr/>
        </p:nvSpPr>
        <p:spPr>
          <a:xfrm>
            <a:off x="713232" y="3090672"/>
            <a:ext cx="457200" cy="841248"/>
          </a:xfrm>
          <a:prstGeom prst="rect">
            <a:avLst/>
          </a:prstGeom>
          <a:noFill/>
          <a:ln/>
        </p:spPr>
        <p:txBody>
          <a:bodyPr wrap="square" lIns="0" tIns="0" rIns="0" bIns="0" rtlCol="0" anchor="ctr"/>
          <a:lstStyle/>
          <a:p>
            <a:pPr algn="ctr" indent="0" marL="0">
              <a:buNone/>
            </a:pPr>
            <a:r>
              <a:rPr lang="en-US" sz="1800" b="1" dirty="0">
                <a:solidFill>
                  <a:srgbClr val="2E7D32"/>
                </a:solidFill>
                <a:latin typeface="Arial" pitchFamily="34" charset="0"/>
                <a:ea typeface="Arial" pitchFamily="34" charset="-122"/>
                <a:cs typeface="Arial" pitchFamily="34" charset="-120"/>
              </a:rPr>
              <a:t>✓</a:t>
            </a:r>
            <a:endParaRPr lang="en-US" sz="1800" dirty="0"/>
          </a:p>
        </p:txBody>
      </p:sp>
      <p:sp>
        <p:nvSpPr>
          <p:cNvPr id="10" name="Text 8"/>
          <p:cNvSpPr/>
          <p:nvPr/>
        </p:nvSpPr>
        <p:spPr>
          <a:xfrm>
            <a:off x="1207008" y="3090672"/>
            <a:ext cx="4663440" cy="841248"/>
          </a:xfrm>
          <a:prstGeom prst="rect">
            <a:avLst/>
          </a:prstGeom>
          <a:noFill/>
          <a:ln/>
        </p:spPr>
        <p:txBody>
          <a:bodyPr wrap="square" lIns="0" tIns="0" rIns="0" bIns="0" rtlCol="0" anchor="ctr"/>
          <a:lstStyle/>
          <a:p>
            <a:pPr indent="0" marL="0">
              <a:lnSpc>
                <a:spcPct val="102000"/>
              </a:lnSpc>
              <a:buNone/>
            </a:pPr>
            <a:r>
              <a:rPr lang="en-US" sz="1250" dirty="0">
                <a:solidFill>
                  <a:srgbClr val="1A1A1A"/>
                </a:solidFill>
                <a:latin typeface="Arial" pitchFamily="34" charset="0"/>
                <a:ea typeface="Arial" pitchFamily="34" charset="-122"/>
                <a:cs typeface="Arial" pitchFamily="34" charset="-120"/>
              </a:rPr>
              <a:t>A new in-process module is added in a single registration.</a:t>
            </a:r>
            <a:endParaRPr lang="en-US" sz="1250" dirty="0"/>
          </a:p>
        </p:txBody>
      </p:sp>
      <p:sp>
        <p:nvSpPr>
          <p:cNvPr id="11" name="Shape 9"/>
          <p:cNvSpPr/>
          <p:nvPr/>
        </p:nvSpPr>
        <p:spPr>
          <a:xfrm>
            <a:off x="548640" y="4050792"/>
            <a:ext cx="5486400" cy="841248"/>
          </a:xfrm>
          <a:prstGeom prst="roundRect">
            <a:avLst>
              <a:gd name="adj" fmla="val 7609"/>
            </a:avLst>
          </a:prstGeom>
          <a:solidFill>
            <a:srgbClr val="F4F5F7"/>
          </a:solidFill>
          <a:ln w="12700">
            <a:solidFill>
              <a:srgbClr val="D6DAE2"/>
            </a:solidFill>
            <a:prstDash val="solid"/>
          </a:ln>
        </p:spPr>
      </p:sp>
      <p:sp>
        <p:nvSpPr>
          <p:cNvPr id="12" name="Text 10"/>
          <p:cNvSpPr/>
          <p:nvPr/>
        </p:nvSpPr>
        <p:spPr>
          <a:xfrm>
            <a:off x="713232" y="4050792"/>
            <a:ext cx="457200" cy="841248"/>
          </a:xfrm>
          <a:prstGeom prst="rect">
            <a:avLst/>
          </a:prstGeom>
          <a:noFill/>
          <a:ln/>
        </p:spPr>
        <p:txBody>
          <a:bodyPr wrap="square" lIns="0" tIns="0" rIns="0" bIns="0" rtlCol="0" anchor="ctr"/>
          <a:lstStyle/>
          <a:p>
            <a:pPr algn="ctr" indent="0" marL="0">
              <a:buNone/>
            </a:pPr>
            <a:r>
              <a:rPr lang="en-US" sz="1800" b="1" dirty="0">
                <a:solidFill>
                  <a:srgbClr val="2E7D32"/>
                </a:solidFill>
                <a:latin typeface="Arial" pitchFamily="34" charset="0"/>
                <a:ea typeface="Arial" pitchFamily="34" charset="-122"/>
                <a:cs typeface="Arial" pitchFamily="34" charset="-120"/>
              </a:rPr>
              <a:t>✓</a:t>
            </a:r>
            <a:endParaRPr lang="en-US" sz="1800" dirty="0"/>
          </a:p>
        </p:txBody>
      </p:sp>
      <p:sp>
        <p:nvSpPr>
          <p:cNvPr id="13" name="Text 11"/>
          <p:cNvSpPr/>
          <p:nvPr/>
        </p:nvSpPr>
        <p:spPr>
          <a:xfrm>
            <a:off x="1207008" y="4050792"/>
            <a:ext cx="4663440" cy="841248"/>
          </a:xfrm>
          <a:prstGeom prst="rect">
            <a:avLst/>
          </a:prstGeom>
          <a:noFill/>
          <a:ln/>
        </p:spPr>
        <p:txBody>
          <a:bodyPr wrap="square" lIns="0" tIns="0" rIns="0" bIns="0" rtlCol="0" anchor="ctr"/>
          <a:lstStyle/>
          <a:p>
            <a:pPr indent="0" marL="0">
              <a:lnSpc>
                <a:spcPct val="102000"/>
              </a:lnSpc>
              <a:buNone/>
            </a:pPr>
            <a:r>
              <a:rPr lang="en-US" sz="1250" dirty="0">
                <a:solidFill>
                  <a:srgbClr val="1A1A1A"/>
                </a:solidFill>
                <a:latin typeface="Arial" pitchFamily="34" charset="0"/>
                <a:ea typeface="Arial" pitchFamily="34" charset="-122"/>
                <a:cs typeface="Arial" pitchFamily="34" charset="-120"/>
              </a:rPr>
              <a:t>Three external providers connect with no change to the core — one wraps a collaborator's reading-difficulty model.</a:t>
            </a:r>
            <a:endParaRPr lang="en-US" sz="1250" dirty="0"/>
          </a:p>
        </p:txBody>
      </p:sp>
      <p:sp>
        <p:nvSpPr>
          <p:cNvPr id="14" name="Text 12"/>
          <p:cNvSpPr/>
          <p:nvPr/>
        </p:nvSpPr>
        <p:spPr>
          <a:xfrm>
            <a:off x="6400800" y="1627632"/>
            <a:ext cx="5239512" cy="365760"/>
          </a:xfrm>
          <a:prstGeom prst="rect">
            <a:avLst/>
          </a:prstGeom>
          <a:noFill/>
          <a:ln/>
        </p:spPr>
        <p:txBody>
          <a:bodyPr wrap="square" lIns="0" tIns="0" rIns="0" bIns="0" rtlCol="0" anchor="ctr"/>
          <a:lstStyle/>
          <a:p>
            <a:pPr indent="0" marL="0">
              <a:buNone/>
            </a:pPr>
            <a:r>
              <a:rPr lang="en-US" sz="1450" b="1" dirty="0">
                <a:solidFill>
                  <a:srgbClr val="030F4F"/>
                </a:solidFill>
                <a:latin typeface="Arial" pitchFamily="34" charset="0"/>
                <a:ea typeface="Arial" pitchFamily="34" charset="-122"/>
                <a:cs typeface="Arial" pitchFamily="34" charset="-120"/>
              </a:rPr>
              <a:t>RQ2 — Real Tobii sensing, within budget</a:t>
            </a:r>
            <a:endParaRPr lang="en-US" sz="1450" dirty="0"/>
          </a:p>
        </p:txBody>
      </p:sp>
      <p:sp>
        <p:nvSpPr>
          <p:cNvPr id="15" name="Shape 13"/>
          <p:cNvSpPr/>
          <p:nvPr/>
        </p:nvSpPr>
        <p:spPr>
          <a:xfrm>
            <a:off x="6400800" y="2130552"/>
            <a:ext cx="1624584" cy="1371600"/>
          </a:xfrm>
          <a:prstGeom prst="roundRect">
            <a:avLst>
              <a:gd name="adj" fmla="val 4667"/>
            </a:avLst>
          </a:prstGeom>
          <a:solidFill>
            <a:srgbClr val="F6ECEC"/>
          </a:solidFill>
          <a:ln w="12700">
            <a:solidFill>
              <a:srgbClr val="E3C9C9"/>
            </a:solidFill>
            <a:prstDash val="solid"/>
          </a:ln>
          <a:effectLst>
            <a:outerShdw sx="100000" sy="100000" kx="0" ky="0" algn="bl" rotWithShape="0" blurRad="88900" dist="38100" dir="5400000">
              <a:srgbClr val="000000">
                <a:alpha val="12000"/>
              </a:srgbClr>
            </a:outerShdw>
          </a:effectLst>
        </p:spPr>
      </p:sp>
      <p:sp>
        <p:nvSpPr>
          <p:cNvPr id="16" name="Text 14"/>
          <p:cNvSpPr/>
          <p:nvPr/>
        </p:nvSpPr>
        <p:spPr>
          <a:xfrm>
            <a:off x="6400800" y="2267712"/>
            <a:ext cx="1624584" cy="640080"/>
          </a:xfrm>
          <a:prstGeom prst="rect">
            <a:avLst/>
          </a:prstGeom>
          <a:noFill/>
          <a:ln/>
        </p:spPr>
        <p:txBody>
          <a:bodyPr wrap="square" lIns="0" tIns="0" rIns="0" bIns="0" rtlCol="0" anchor="ctr"/>
          <a:lstStyle/>
          <a:p>
            <a:pPr algn="ctr" indent="0" marL="0">
              <a:buNone/>
            </a:pPr>
            <a:r>
              <a:rPr lang="en-US" sz="2700" b="1" dirty="0">
                <a:solidFill>
                  <a:srgbClr val="990000"/>
                </a:solidFill>
                <a:latin typeface="Arial" pitchFamily="34" charset="0"/>
                <a:ea typeface="Arial" pitchFamily="34" charset="-122"/>
                <a:cs typeface="Arial" pitchFamily="34" charset="-120"/>
              </a:rPr>
              <a:t>90 Hz</a:t>
            </a:r>
            <a:endParaRPr lang="en-US" sz="2700" dirty="0"/>
          </a:p>
        </p:txBody>
      </p:sp>
      <p:sp>
        <p:nvSpPr>
          <p:cNvPr id="17" name="Text 15"/>
          <p:cNvSpPr/>
          <p:nvPr/>
        </p:nvSpPr>
        <p:spPr>
          <a:xfrm>
            <a:off x="6492240" y="2926080"/>
            <a:ext cx="1441704" cy="502920"/>
          </a:xfrm>
          <a:prstGeom prst="rect">
            <a:avLst/>
          </a:prstGeom>
          <a:noFill/>
          <a:ln/>
        </p:spPr>
        <p:txBody>
          <a:bodyPr wrap="square" lIns="0" tIns="0" rIns="0" bIns="0" rtlCol="0" anchor="t"/>
          <a:lstStyle/>
          <a:p>
            <a:pPr algn="ctr" indent="0" marL="0">
              <a:lnSpc>
                <a:spcPct val="100000"/>
              </a:lnSpc>
              <a:buNone/>
            </a:pPr>
            <a:r>
              <a:rPr lang="en-US" sz="1050" dirty="0">
                <a:solidFill>
                  <a:srgbClr val="1A1A1A"/>
                </a:solidFill>
                <a:latin typeface="Arial" pitchFamily="34" charset="0"/>
                <a:ea typeface="Arial" pitchFamily="34" charset="-122"/>
                <a:cs typeface="Arial" pitchFamily="34" charset="-120"/>
              </a:rPr>
              <a:t>rated sensing rate, sustained</a:t>
            </a:r>
            <a:endParaRPr lang="en-US" sz="1050" dirty="0"/>
          </a:p>
        </p:txBody>
      </p:sp>
      <p:sp>
        <p:nvSpPr>
          <p:cNvPr id="18" name="Shape 16"/>
          <p:cNvSpPr/>
          <p:nvPr/>
        </p:nvSpPr>
        <p:spPr>
          <a:xfrm>
            <a:off x="8208264" y="2130552"/>
            <a:ext cx="1624584" cy="1371600"/>
          </a:xfrm>
          <a:prstGeom prst="roundRect">
            <a:avLst>
              <a:gd name="adj" fmla="val 4667"/>
            </a:avLst>
          </a:prstGeom>
          <a:solidFill>
            <a:srgbClr val="F6ECEC"/>
          </a:solidFill>
          <a:ln w="12700">
            <a:solidFill>
              <a:srgbClr val="E3C9C9"/>
            </a:solidFill>
            <a:prstDash val="solid"/>
          </a:ln>
          <a:effectLst>
            <a:outerShdw sx="100000" sy="100000" kx="0" ky="0" algn="bl" rotWithShape="0" blurRad="88900" dist="38100" dir="5400000">
              <a:srgbClr val="000000">
                <a:alpha val="12000"/>
              </a:srgbClr>
            </a:outerShdw>
          </a:effectLst>
        </p:spPr>
      </p:sp>
      <p:sp>
        <p:nvSpPr>
          <p:cNvPr id="19" name="Text 17"/>
          <p:cNvSpPr/>
          <p:nvPr/>
        </p:nvSpPr>
        <p:spPr>
          <a:xfrm>
            <a:off x="8208264" y="2267712"/>
            <a:ext cx="1624584" cy="640080"/>
          </a:xfrm>
          <a:prstGeom prst="rect">
            <a:avLst/>
          </a:prstGeom>
          <a:noFill/>
          <a:ln/>
        </p:spPr>
        <p:txBody>
          <a:bodyPr wrap="square" lIns="0" tIns="0" rIns="0" bIns="0" rtlCol="0" anchor="ctr"/>
          <a:lstStyle/>
          <a:p>
            <a:pPr algn="ctr" indent="0" marL="0">
              <a:buNone/>
            </a:pPr>
            <a:r>
              <a:rPr lang="en-US" sz="2700" b="1" dirty="0">
                <a:solidFill>
                  <a:srgbClr val="990000"/>
                </a:solidFill>
                <a:latin typeface="Arial" pitchFamily="34" charset="0"/>
                <a:ea typeface="Arial" pitchFamily="34" charset="-122"/>
                <a:cs typeface="Arial" pitchFamily="34" charset="-120"/>
              </a:rPr>
              <a:t>&gt;92%</a:t>
            </a:r>
            <a:endParaRPr lang="en-US" sz="2700" dirty="0"/>
          </a:p>
        </p:txBody>
      </p:sp>
      <p:sp>
        <p:nvSpPr>
          <p:cNvPr id="20" name="Text 18"/>
          <p:cNvSpPr/>
          <p:nvPr/>
        </p:nvSpPr>
        <p:spPr>
          <a:xfrm>
            <a:off x="8299704" y="2926080"/>
            <a:ext cx="1441704" cy="502920"/>
          </a:xfrm>
          <a:prstGeom prst="rect">
            <a:avLst/>
          </a:prstGeom>
          <a:noFill/>
          <a:ln/>
        </p:spPr>
        <p:txBody>
          <a:bodyPr wrap="square" lIns="0" tIns="0" rIns="0" bIns="0" rtlCol="0" anchor="t"/>
          <a:lstStyle/>
          <a:p>
            <a:pPr algn="ctr" indent="0" marL="0">
              <a:lnSpc>
                <a:spcPct val="100000"/>
              </a:lnSpc>
              <a:buNone/>
            </a:pPr>
            <a:r>
              <a:rPr lang="en-US" sz="1050" dirty="0">
                <a:solidFill>
                  <a:srgbClr val="1A1A1A"/>
                </a:solidFill>
                <a:latin typeface="Arial" pitchFamily="34" charset="0"/>
                <a:ea typeface="Arial" pitchFamily="34" charset="-122"/>
                <a:cs typeface="Arial" pitchFamily="34" charset="-120"/>
              </a:rPr>
              <a:t>gaze validity</a:t>
            </a:r>
            <a:endParaRPr lang="en-US" sz="1050" dirty="0"/>
          </a:p>
        </p:txBody>
      </p:sp>
      <p:sp>
        <p:nvSpPr>
          <p:cNvPr id="21" name="Shape 19"/>
          <p:cNvSpPr/>
          <p:nvPr/>
        </p:nvSpPr>
        <p:spPr>
          <a:xfrm>
            <a:off x="10015728" y="2130552"/>
            <a:ext cx="1624584" cy="1371600"/>
          </a:xfrm>
          <a:prstGeom prst="roundRect">
            <a:avLst>
              <a:gd name="adj" fmla="val 4667"/>
            </a:avLst>
          </a:prstGeom>
          <a:solidFill>
            <a:srgbClr val="F6ECEC"/>
          </a:solidFill>
          <a:ln w="12700">
            <a:solidFill>
              <a:srgbClr val="E3C9C9"/>
            </a:solidFill>
            <a:prstDash val="solid"/>
          </a:ln>
          <a:effectLst>
            <a:outerShdw sx="100000" sy="100000" kx="0" ky="0" algn="bl" rotWithShape="0" blurRad="88900" dist="38100" dir="5400000">
              <a:srgbClr val="000000">
                <a:alpha val="12000"/>
              </a:srgbClr>
            </a:outerShdw>
          </a:effectLst>
        </p:spPr>
      </p:sp>
      <p:sp>
        <p:nvSpPr>
          <p:cNvPr id="22" name="Text 20"/>
          <p:cNvSpPr/>
          <p:nvPr/>
        </p:nvSpPr>
        <p:spPr>
          <a:xfrm>
            <a:off x="10015728" y="2267712"/>
            <a:ext cx="1624584" cy="640080"/>
          </a:xfrm>
          <a:prstGeom prst="rect">
            <a:avLst/>
          </a:prstGeom>
          <a:noFill/>
          <a:ln/>
        </p:spPr>
        <p:txBody>
          <a:bodyPr wrap="square" lIns="0" tIns="0" rIns="0" bIns="0" rtlCol="0" anchor="ctr"/>
          <a:lstStyle/>
          <a:p>
            <a:pPr algn="ctr" indent="0" marL="0">
              <a:buNone/>
            </a:pPr>
            <a:r>
              <a:rPr lang="en-US" sz="2700" b="1" dirty="0">
                <a:solidFill>
                  <a:srgbClr val="990000"/>
                </a:solidFill>
                <a:latin typeface="Arial" pitchFamily="34" charset="0"/>
                <a:ea typeface="Arial" pitchFamily="34" charset="-122"/>
                <a:cs typeface="Arial" pitchFamily="34" charset="-120"/>
              </a:rPr>
              <a:t>&lt;100 ms</a:t>
            </a:r>
            <a:endParaRPr lang="en-US" sz="2700" dirty="0"/>
          </a:p>
        </p:txBody>
      </p:sp>
      <p:sp>
        <p:nvSpPr>
          <p:cNvPr id="23" name="Text 21"/>
          <p:cNvSpPr/>
          <p:nvPr/>
        </p:nvSpPr>
        <p:spPr>
          <a:xfrm>
            <a:off x="10107168" y="2926080"/>
            <a:ext cx="1441704" cy="502920"/>
          </a:xfrm>
          <a:prstGeom prst="rect">
            <a:avLst/>
          </a:prstGeom>
          <a:noFill/>
          <a:ln/>
        </p:spPr>
        <p:txBody>
          <a:bodyPr wrap="square" lIns="0" tIns="0" rIns="0" bIns="0" rtlCol="0" anchor="t"/>
          <a:lstStyle/>
          <a:p>
            <a:pPr algn="ctr" indent="0" marL="0">
              <a:lnSpc>
                <a:spcPct val="100000"/>
              </a:lnSpc>
              <a:buNone/>
            </a:pPr>
            <a:r>
              <a:rPr lang="en-US" sz="1050" dirty="0">
                <a:solidFill>
                  <a:srgbClr val="1A1A1A"/>
                </a:solidFill>
                <a:latin typeface="Arial" pitchFamily="34" charset="0"/>
                <a:ea typeface="Arial" pitchFamily="34" charset="-122"/>
                <a:cs typeface="Arial" pitchFamily="34" charset="-120"/>
              </a:rPr>
              <a:t>client transport latency, every sample</a:t>
            </a:r>
            <a:endParaRPr lang="en-US" sz="1050" dirty="0"/>
          </a:p>
        </p:txBody>
      </p:sp>
      <p:sp>
        <p:nvSpPr>
          <p:cNvPr id="24" name="Shape 22"/>
          <p:cNvSpPr/>
          <p:nvPr/>
        </p:nvSpPr>
        <p:spPr>
          <a:xfrm>
            <a:off x="6382512" y="3712464"/>
            <a:ext cx="4148474" cy="1819656"/>
          </a:xfrm>
          <a:prstGeom prst="rect">
            <a:avLst/>
          </a:prstGeom>
          <a:solidFill>
            <a:srgbClr val="FFFFFF"/>
          </a:solidFill>
          <a:ln w="12700">
            <a:solidFill>
              <a:srgbClr val="D6DAE2"/>
            </a:solidFill>
            <a:prstDash val="solid"/>
          </a:ln>
          <a:effectLst>
            <a:outerShdw sx="100000" sy="100000" kx="0" ky="0" algn="bl" rotWithShape="0" blurRad="88900" dist="38100" dir="5400000">
              <a:srgbClr val="000000">
                <a:alpha val="12000"/>
              </a:srgbClr>
            </a:outerShdw>
          </a:effectLst>
        </p:spPr>
      </p:sp>
      <p:pic>
        <p:nvPicPr>
          <p:cNvPr id="25" name="Image 0" descr="/private/tmp/claude-501/-Users-sachinbaral-Masters-Thesis-reading-the-reader-monorepo/02f0224a-f714-4962-9dde-d5ef8518d867/scratchpad/deck-assets/eval-sensing-validity.png">    </p:cNvPr>
          <p:cNvPicPr>
            <a:picLocks noChangeAspect="1"/>
          </p:cNvPicPr>
          <p:nvPr/>
        </p:nvPicPr>
        <p:blipFill>
          <a:blip r:embed="rId1"/>
          <a:stretch>
            <a:fillRect/>
          </a:stretch>
        </p:blipFill>
        <p:spPr>
          <a:xfrm>
            <a:off x="6400800" y="3730752"/>
            <a:ext cx="4111898" cy="1783080"/>
          </a:xfrm>
          <a:prstGeom prst="rect">
            <a:avLst/>
          </a:prstGeom>
        </p:spPr>
      </p:pic>
      <p:sp>
        <p:nvSpPr>
          <p:cNvPr id="26" name="Text 23"/>
          <p:cNvSpPr/>
          <p:nvPr/>
        </p:nvSpPr>
        <p:spPr>
          <a:xfrm>
            <a:off x="6400800" y="5559552"/>
            <a:ext cx="5239512" cy="274320"/>
          </a:xfrm>
          <a:prstGeom prst="rect">
            <a:avLst/>
          </a:prstGeom>
          <a:noFill/>
          <a:ln/>
        </p:spPr>
        <p:txBody>
          <a:bodyPr wrap="square" lIns="0" tIns="0" rIns="0" bIns="0" rtlCol="0" anchor="ctr"/>
          <a:lstStyle/>
          <a:p>
            <a:pPr indent="0" marL="0">
              <a:buNone/>
            </a:pPr>
            <a:r>
              <a:rPr lang="en-US" sz="1000" i="1" dirty="0">
                <a:solidFill>
                  <a:srgbClr val="6B7280"/>
                </a:solidFill>
                <a:latin typeface="Arial" pitchFamily="34" charset="0"/>
                <a:ea typeface="Arial" pitchFamily="34" charset="-122"/>
                <a:cs typeface="Arial" pitchFamily="34" charset="-120"/>
              </a:rPr>
              <a:t>Per-session sensing rate and validity across eight real reading sessions.</a:t>
            </a:r>
            <a:endParaRPr lang="en-US" sz="1000" dirty="0"/>
          </a:p>
        </p:txBody>
      </p:sp>
      <p:sp>
        <p:nvSpPr>
          <p:cNvPr id="28" name="Text 24"/>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Reading the Reader · MSc Thesis Defense</a:t>
            </a:r>
            <a:endParaRPr lang="en-US" sz="900" dirty="0"/>
          </a:p>
        </p:txBody>
      </p:sp>
      <p:sp>
        <p:nvSpPr>
          <p:cNvPr id="29" name="Text 25"/>
          <p:cNvSpPr/>
          <p:nvPr/>
        </p:nvSpPr>
        <p:spPr>
          <a:xfrm>
            <a:off x="11091672" y="6473952"/>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20624"/>
            <a:ext cx="11091672" cy="274320"/>
          </a:xfrm>
          <a:prstGeom prst="rect">
            <a:avLst/>
          </a:prstGeom>
          <a:noFill/>
          <a:ln/>
        </p:spPr>
        <p:txBody>
          <a:bodyPr wrap="square" lIns="0" tIns="0" rIns="0" bIns="0" rtlCol="0" anchor="ctr"/>
          <a:lstStyle/>
          <a:p>
            <a:pPr indent="0" marL="0">
              <a:buNone/>
            </a:pPr>
            <a:r>
              <a:rPr lang="en-US" sz="1250" b="1" spc="250" kern="0" dirty="0">
                <a:solidFill>
                  <a:srgbClr val="990000"/>
                </a:solidFill>
                <a:latin typeface="Arial" pitchFamily="34" charset="0"/>
                <a:ea typeface="Arial" pitchFamily="34" charset="-122"/>
                <a:cs typeface="Arial" pitchFamily="34" charset="-120"/>
              </a:rPr>
              <a:t>EVALUATION · RQ3 / RQ4</a:t>
            </a:r>
            <a:endParaRPr lang="en-US" sz="1250" dirty="0"/>
          </a:p>
        </p:txBody>
      </p:sp>
      <p:sp>
        <p:nvSpPr>
          <p:cNvPr id="3" name="Text 1"/>
          <p:cNvSpPr/>
          <p:nvPr/>
        </p:nvSpPr>
        <p:spPr>
          <a:xfrm>
            <a:off x="548640" y="676656"/>
            <a:ext cx="11091672" cy="777240"/>
          </a:xfrm>
          <a:prstGeom prst="rect">
            <a:avLst/>
          </a:prstGeom>
          <a:noFill/>
          <a:ln/>
        </p:spPr>
        <p:txBody>
          <a:bodyPr wrap="square" lIns="0" tIns="0" rIns="0" bIns="0" rtlCol="0" anchor="t"/>
          <a:lstStyle/>
          <a:p>
            <a:pPr indent="0" marL="0">
              <a:lnSpc>
                <a:spcPct val="98000"/>
              </a:lnSpc>
              <a:buNone/>
            </a:pPr>
            <a:r>
              <a:rPr lang="en-US" sz="2900" b="1" dirty="0">
                <a:solidFill>
                  <a:srgbClr val="1A1A1A"/>
                </a:solidFill>
                <a:latin typeface="Arial" pitchFamily="34" charset="0"/>
                <a:ea typeface="Arial" pitchFamily="34" charset="-122"/>
                <a:cs typeface="Arial" pitchFamily="34" charset="-120"/>
              </a:rPr>
              <a:t>Context preserved; results reproducible</a:t>
            </a:r>
            <a:endParaRPr lang="en-US" sz="2900" dirty="0"/>
          </a:p>
        </p:txBody>
      </p:sp>
      <p:sp>
        <p:nvSpPr>
          <p:cNvPr id="4" name="Text 2"/>
          <p:cNvSpPr/>
          <p:nvPr/>
        </p:nvSpPr>
        <p:spPr>
          <a:xfrm>
            <a:off x="548640" y="1627632"/>
            <a:ext cx="5669280" cy="365760"/>
          </a:xfrm>
          <a:prstGeom prst="rect">
            <a:avLst/>
          </a:prstGeom>
          <a:noFill/>
          <a:ln/>
        </p:spPr>
        <p:txBody>
          <a:bodyPr wrap="square" lIns="0" tIns="0" rIns="0" bIns="0" rtlCol="0" anchor="ctr"/>
          <a:lstStyle/>
          <a:p>
            <a:pPr indent="0" marL="0">
              <a:buNone/>
            </a:pPr>
            <a:r>
              <a:rPr lang="en-US" sz="1450" b="1" dirty="0">
                <a:solidFill>
                  <a:srgbClr val="030F4F"/>
                </a:solidFill>
                <a:latin typeface="Arial" pitchFamily="34" charset="0"/>
                <a:ea typeface="Arial" pitchFamily="34" charset="-122"/>
                <a:cs typeface="Arial" pitchFamily="34" charset="-120"/>
              </a:rPr>
              <a:t>RQ3 — Context preservation lowered both measures</a:t>
            </a:r>
            <a:endParaRPr lang="en-US" sz="1450" dirty="0"/>
          </a:p>
        </p:txBody>
      </p:sp>
      <p:sp>
        <p:nvSpPr>
          <p:cNvPr id="5" name="Shape 3"/>
          <p:cNvSpPr/>
          <p:nvPr/>
        </p:nvSpPr>
        <p:spPr>
          <a:xfrm>
            <a:off x="530352" y="2066544"/>
            <a:ext cx="2779776" cy="1533773"/>
          </a:xfrm>
          <a:prstGeom prst="rect">
            <a:avLst/>
          </a:prstGeom>
          <a:solidFill>
            <a:srgbClr val="FFFFFF"/>
          </a:solidFill>
          <a:ln w="12700">
            <a:solidFill>
              <a:srgbClr val="D6DAE2"/>
            </a:solidFill>
            <a:prstDash val="solid"/>
          </a:ln>
          <a:effectLst>
            <a:outerShdw sx="100000" sy="100000" kx="0" ky="0" algn="bl" rotWithShape="0" blurRad="88900" dist="38100" dir="5400000">
              <a:srgbClr val="000000">
                <a:alpha val="12000"/>
              </a:srgbClr>
            </a:outerShdw>
          </a:effectLst>
        </p:spPr>
      </p:sp>
      <p:pic>
        <p:nvPicPr>
          <p:cNvPr id="6" name="Image 0" descr="/private/tmp/claude-501/-Users-sachinbaral-Masters-Thesis-reading-the-reader-monorepo/02f0224a-f714-4962-9dde-d5ef8518d867/scratchpad/deck-assets/eval-rrt.png">    </p:cNvPr>
          <p:cNvPicPr>
            <a:picLocks noChangeAspect="1"/>
          </p:cNvPicPr>
          <p:nvPr/>
        </p:nvPicPr>
        <p:blipFill>
          <a:blip r:embed="rId1"/>
          <a:stretch>
            <a:fillRect/>
          </a:stretch>
        </p:blipFill>
        <p:spPr>
          <a:xfrm>
            <a:off x="548640" y="2084832"/>
            <a:ext cx="2743200" cy="1497197"/>
          </a:xfrm>
          <a:prstGeom prst="rect">
            <a:avLst/>
          </a:prstGeom>
        </p:spPr>
      </p:pic>
      <p:sp>
        <p:nvSpPr>
          <p:cNvPr id="7" name="Shape 4"/>
          <p:cNvSpPr/>
          <p:nvPr/>
        </p:nvSpPr>
        <p:spPr>
          <a:xfrm>
            <a:off x="3456432" y="2066544"/>
            <a:ext cx="2779776" cy="1644806"/>
          </a:xfrm>
          <a:prstGeom prst="rect">
            <a:avLst/>
          </a:prstGeom>
          <a:solidFill>
            <a:srgbClr val="FFFFFF"/>
          </a:solidFill>
          <a:ln w="12700">
            <a:solidFill>
              <a:srgbClr val="D6DAE2"/>
            </a:solidFill>
            <a:prstDash val="solid"/>
          </a:ln>
          <a:effectLst>
            <a:outerShdw sx="100000" sy="100000" kx="0" ky="0" algn="bl" rotWithShape="0" blurRad="88900" dist="38100" dir="5400000">
              <a:srgbClr val="000000">
                <a:alpha val="12000"/>
              </a:srgbClr>
            </a:outerShdw>
          </a:effectLst>
        </p:spPr>
      </p:sp>
      <p:pic>
        <p:nvPicPr>
          <p:cNvPr id="8" name="Image 1" descr="/private/tmp/claude-501/-Users-sachinbaral-Masters-Thesis-reading-the-reader-monorepo/02f0224a-f714-4962-9dde-d5ef8518d867/scratchpad/deck-assets/eval-post-regression.png">    </p:cNvPr>
          <p:cNvPicPr>
            <a:picLocks noChangeAspect="1"/>
          </p:cNvPicPr>
          <p:nvPr/>
        </p:nvPicPr>
        <p:blipFill>
          <a:blip r:embed="rId2"/>
          <a:stretch>
            <a:fillRect/>
          </a:stretch>
        </p:blipFill>
        <p:spPr>
          <a:xfrm>
            <a:off x="3474720" y="2084832"/>
            <a:ext cx="2743200" cy="1608230"/>
          </a:xfrm>
          <a:prstGeom prst="rect">
            <a:avLst/>
          </a:prstGeom>
        </p:spPr>
      </p:pic>
      <p:sp>
        <p:nvSpPr>
          <p:cNvPr id="9" name="Text 5"/>
          <p:cNvSpPr/>
          <p:nvPr/>
        </p:nvSpPr>
        <p:spPr>
          <a:xfrm>
            <a:off x="548640" y="4096512"/>
            <a:ext cx="5669280" cy="548640"/>
          </a:xfrm>
          <a:prstGeom prst="rect">
            <a:avLst/>
          </a:prstGeom>
          <a:noFill/>
          <a:ln/>
        </p:spPr>
        <p:txBody>
          <a:bodyPr wrap="square" lIns="0" tIns="0" rIns="0" bIns="0" rtlCol="0" anchor="ctr"/>
          <a:lstStyle/>
          <a:p>
            <a:pPr indent="0" marL="0">
              <a:lnSpc>
                <a:spcPct val="105000"/>
              </a:lnSpc>
              <a:buNone/>
            </a:pPr>
            <a:r>
              <a:rPr lang="en-US" sz="1100" i="1" dirty="0">
                <a:solidFill>
                  <a:srgbClr val="6B7280"/>
                </a:solidFill>
                <a:latin typeface="Arial" pitchFamily="34" charset="0"/>
                <a:ea typeface="Arial" pitchFamily="34" charset="-122"/>
                <a:cs typeface="Arial" pitchFamily="34" charset="-120"/>
              </a:rPr>
              <a:t>Reading-resume time (left) and post-intervention regression rate (right): both lower with context preservation than without.</a:t>
            </a:r>
            <a:endParaRPr lang="en-US" sz="1100" dirty="0"/>
          </a:p>
        </p:txBody>
      </p:sp>
      <p:sp>
        <p:nvSpPr>
          <p:cNvPr id="10" name="Text 6"/>
          <p:cNvSpPr/>
          <p:nvPr/>
        </p:nvSpPr>
        <p:spPr>
          <a:xfrm>
            <a:off x="6400800" y="1627632"/>
            <a:ext cx="5239512" cy="365760"/>
          </a:xfrm>
          <a:prstGeom prst="rect">
            <a:avLst/>
          </a:prstGeom>
          <a:noFill/>
          <a:ln/>
        </p:spPr>
        <p:txBody>
          <a:bodyPr wrap="square" lIns="0" tIns="0" rIns="0" bIns="0" rtlCol="0" anchor="ctr"/>
          <a:lstStyle/>
          <a:p>
            <a:pPr indent="0" marL="0">
              <a:buNone/>
            </a:pPr>
            <a:r>
              <a:rPr lang="en-US" sz="1450" b="1" dirty="0">
                <a:solidFill>
                  <a:srgbClr val="030F4F"/>
                </a:solidFill>
                <a:latin typeface="Arial" pitchFamily="34" charset="0"/>
                <a:ea typeface="Arial" pitchFamily="34" charset="-122"/>
                <a:cs typeface="Arial" pitchFamily="34" charset="-120"/>
              </a:rPr>
              <a:t>RQ4 — Operable and reproducible</a:t>
            </a:r>
            <a:endParaRPr lang="en-US" sz="1450" dirty="0"/>
          </a:p>
        </p:txBody>
      </p:sp>
      <p:sp>
        <p:nvSpPr>
          <p:cNvPr id="11" name="Shape 7"/>
          <p:cNvSpPr/>
          <p:nvPr/>
        </p:nvSpPr>
        <p:spPr>
          <a:xfrm>
            <a:off x="6400800" y="2084832"/>
            <a:ext cx="5239512" cy="1143000"/>
          </a:xfrm>
          <a:prstGeom prst="roundRect">
            <a:avLst>
              <a:gd name="adj" fmla="val 5600"/>
            </a:avLst>
          </a:prstGeom>
          <a:solidFill>
            <a:srgbClr val="F4F5F7"/>
          </a:solidFill>
          <a:ln w="12700">
            <a:solidFill>
              <a:srgbClr val="D6DAE2"/>
            </a:solidFill>
            <a:prstDash val="solid"/>
          </a:ln>
        </p:spPr>
      </p:sp>
      <p:sp>
        <p:nvSpPr>
          <p:cNvPr id="12" name="Text 8"/>
          <p:cNvSpPr/>
          <p:nvPr/>
        </p:nvSpPr>
        <p:spPr>
          <a:xfrm>
            <a:off x="6656832" y="2084832"/>
            <a:ext cx="4727448" cy="1143000"/>
          </a:xfrm>
          <a:prstGeom prst="rect">
            <a:avLst/>
          </a:prstGeom>
          <a:noFill/>
          <a:ln/>
        </p:spPr>
        <p:txBody>
          <a:bodyPr wrap="square" lIns="0" tIns="0" rIns="0" bIns="0" rtlCol="0" anchor="ctr"/>
          <a:lstStyle/>
          <a:p>
            <a:pPr indent="0" marL="0">
              <a:lnSpc>
                <a:spcPct val="105000"/>
              </a:lnSpc>
              <a:buNone/>
            </a:pPr>
            <a:r>
              <a:rPr lang="en-US" sz="1250" b="1" dirty="0">
                <a:solidFill>
                  <a:srgbClr val="1A1A1A"/>
                </a:solidFill>
                <a:latin typeface="Arial" pitchFamily="34" charset="0"/>
                <a:ea typeface="Arial" pitchFamily="34" charset="-122"/>
                <a:cs typeface="Arial" pitchFamily="34" charset="-120"/>
              </a:rPr>
              <a:t>One gated console </a:t>
            </a:r>
            <a:pPr indent="0" marL="0">
              <a:lnSpc>
                <a:spcPct val="105000"/>
              </a:lnSpc>
              <a:buNone/>
            </a:pPr>
            <a:r>
              <a:rPr lang="en-US" sz="1250" dirty="0">
                <a:solidFill>
                  <a:srgbClr val="1A1A1A"/>
                </a:solidFill>
                <a:latin typeface="Arial" pitchFamily="34" charset="0"/>
                <a:ea typeface="Arial" pitchFamily="34" charset="-122"/>
                <a:cs typeface="Arial" pitchFamily="34" charset="-120"/>
              </a:rPr>
              <a:t>operated every session — participant, licensed tracker, validated calibration, and material all required before a run can start.</a:t>
            </a:r>
            <a:endParaRPr lang="en-US" sz="1250" dirty="0"/>
          </a:p>
        </p:txBody>
      </p:sp>
      <p:sp>
        <p:nvSpPr>
          <p:cNvPr id="13" name="Shape 9"/>
          <p:cNvSpPr/>
          <p:nvPr/>
        </p:nvSpPr>
        <p:spPr>
          <a:xfrm>
            <a:off x="6400800" y="3410712"/>
            <a:ext cx="5239512" cy="1143000"/>
          </a:xfrm>
          <a:prstGeom prst="roundRect">
            <a:avLst>
              <a:gd name="adj" fmla="val 5600"/>
            </a:avLst>
          </a:prstGeom>
          <a:solidFill>
            <a:srgbClr val="ECEEF4"/>
          </a:solidFill>
          <a:ln w="12700">
            <a:solidFill>
              <a:srgbClr val="D6DAE2"/>
            </a:solidFill>
            <a:prstDash val="solid"/>
          </a:ln>
        </p:spPr>
      </p:sp>
      <p:sp>
        <p:nvSpPr>
          <p:cNvPr id="14" name="Text 10"/>
          <p:cNvSpPr/>
          <p:nvPr/>
        </p:nvSpPr>
        <p:spPr>
          <a:xfrm>
            <a:off x="6656832" y="3410712"/>
            <a:ext cx="4727448" cy="1143000"/>
          </a:xfrm>
          <a:prstGeom prst="rect">
            <a:avLst/>
          </a:prstGeom>
          <a:noFill/>
          <a:ln/>
        </p:spPr>
        <p:txBody>
          <a:bodyPr wrap="square" lIns="0" tIns="0" rIns="0" bIns="0" rtlCol="0" anchor="ctr"/>
          <a:lstStyle/>
          <a:p>
            <a:pPr indent="0" marL="0">
              <a:lnSpc>
                <a:spcPct val="105000"/>
              </a:lnSpc>
              <a:buNone/>
            </a:pPr>
            <a:r>
              <a:rPr lang="en-US" sz="1250" b="1" dirty="0">
                <a:solidFill>
                  <a:srgbClr val="030F4F"/>
                </a:solidFill>
                <a:latin typeface="Arial" pitchFamily="34" charset="0"/>
                <a:ea typeface="Arial" pitchFamily="34" charset="-122"/>
                <a:cs typeface="Arial" pitchFamily="34" charset="-120"/>
              </a:rPr>
              <a:t>Every reported result </a:t>
            </a:r>
            <a:pPr indent="0" marL="0">
              <a:lnSpc>
                <a:spcPct val="105000"/>
              </a:lnSpc>
              <a:buNone/>
            </a:pPr>
            <a:r>
              <a:rPr lang="en-US" sz="1250" dirty="0">
                <a:solidFill>
                  <a:srgbClr val="1A1A1A"/>
                </a:solidFill>
                <a:latin typeface="Arial" pitchFamily="34" charset="0"/>
                <a:ea typeface="Arial" pitchFamily="34" charset="-122"/>
                <a:cs typeface="Arial" pitchFamily="34" charset="-120"/>
              </a:rPr>
              <a:t>in the thesis was reconstructed from the exported session records alone — the session record is the research output.</a:t>
            </a:r>
            <a:endParaRPr lang="en-US" sz="1250" dirty="0"/>
          </a:p>
        </p:txBody>
      </p:sp>
      <p:sp>
        <p:nvSpPr>
          <p:cNvPr id="15" name="Text 11"/>
          <p:cNvSpPr/>
          <p:nvPr/>
        </p:nvSpPr>
        <p:spPr>
          <a:xfrm>
            <a:off x="6400800" y="4690872"/>
            <a:ext cx="5239512" cy="274320"/>
          </a:xfrm>
          <a:prstGeom prst="rect">
            <a:avLst/>
          </a:prstGeom>
          <a:noFill/>
          <a:ln/>
        </p:spPr>
        <p:txBody>
          <a:bodyPr wrap="square" lIns="0" tIns="0" rIns="0" bIns="0" rtlCol="0" anchor="ctr"/>
          <a:lstStyle/>
          <a:p>
            <a:pPr indent="0" marL="0">
              <a:buNone/>
            </a:pPr>
            <a:r>
              <a:rPr lang="en-US" sz="1050" i="1" dirty="0">
                <a:solidFill>
                  <a:srgbClr val="6B7280"/>
                </a:solidFill>
                <a:latin typeface="Arial" pitchFamily="34" charset="0"/>
                <a:ea typeface="Arial" pitchFamily="34" charset="-122"/>
                <a:cs typeface="Arial" pitchFamily="34" charset="-120"/>
              </a:rPr>
              <a:t>Results stated as measured; interpretation and threats live in the discussion.</a:t>
            </a:r>
            <a:endParaRPr lang="en-US" sz="1050" dirty="0"/>
          </a:p>
        </p:txBody>
      </p:sp>
      <p:sp>
        <p:nvSpPr>
          <p:cNvPr id="17" name="Text 12"/>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Reading the Reader · MSc Thesis Defense</a:t>
            </a:r>
            <a:endParaRPr lang="en-US" sz="900" dirty="0"/>
          </a:p>
        </p:txBody>
      </p:sp>
      <p:sp>
        <p:nvSpPr>
          <p:cNvPr id="18" name="Text 13"/>
          <p:cNvSpPr/>
          <p:nvPr/>
        </p:nvSpPr>
        <p:spPr>
          <a:xfrm>
            <a:off x="11091672" y="6473952"/>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20624"/>
            <a:ext cx="11091672" cy="274320"/>
          </a:xfrm>
          <a:prstGeom prst="rect">
            <a:avLst/>
          </a:prstGeom>
          <a:noFill/>
          <a:ln/>
        </p:spPr>
        <p:txBody>
          <a:bodyPr wrap="square" lIns="0" tIns="0" rIns="0" bIns="0" rtlCol="0" anchor="ctr"/>
          <a:lstStyle/>
          <a:p>
            <a:pPr indent="0" marL="0">
              <a:buNone/>
            </a:pPr>
            <a:r>
              <a:rPr lang="en-US" sz="1250" b="1" spc="250" kern="0" dirty="0">
                <a:solidFill>
                  <a:srgbClr val="990000"/>
                </a:solidFill>
                <a:latin typeface="Arial" pitchFamily="34" charset="0"/>
                <a:ea typeface="Arial" pitchFamily="34" charset="-122"/>
                <a:cs typeface="Arial" pitchFamily="34" charset="-120"/>
              </a:rPr>
              <a:t>WHAT TRANSFERS</a:t>
            </a:r>
            <a:endParaRPr lang="en-US" sz="1250" dirty="0"/>
          </a:p>
        </p:txBody>
      </p:sp>
      <p:sp>
        <p:nvSpPr>
          <p:cNvPr id="3" name="Text 1"/>
          <p:cNvSpPr/>
          <p:nvPr/>
        </p:nvSpPr>
        <p:spPr>
          <a:xfrm>
            <a:off x="548640" y="676656"/>
            <a:ext cx="11091672" cy="777240"/>
          </a:xfrm>
          <a:prstGeom prst="rect">
            <a:avLst/>
          </a:prstGeom>
          <a:noFill/>
          <a:ln/>
        </p:spPr>
        <p:txBody>
          <a:bodyPr wrap="square" lIns="0" tIns="0" rIns="0" bIns="0" rtlCol="0" anchor="t"/>
          <a:lstStyle/>
          <a:p>
            <a:pPr indent="0" marL="0">
              <a:lnSpc>
                <a:spcPct val="98000"/>
              </a:lnSpc>
              <a:buNone/>
            </a:pPr>
            <a:r>
              <a:rPr lang="en-US" sz="2900" b="1" dirty="0">
                <a:solidFill>
                  <a:srgbClr val="1A1A1A"/>
                </a:solidFill>
                <a:latin typeface="Arial" pitchFamily="34" charset="0"/>
                <a:ea typeface="Arial" pitchFamily="34" charset="-122"/>
                <a:cs typeface="Arial" pitchFamily="34" charset="-120"/>
              </a:rPr>
              <a:t>Four reusable design principles</a:t>
            </a:r>
            <a:endParaRPr lang="en-US" sz="2900" dirty="0"/>
          </a:p>
        </p:txBody>
      </p:sp>
      <p:sp>
        <p:nvSpPr>
          <p:cNvPr id="4" name="Text 2"/>
          <p:cNvSpPr/>
          <p:nvPr/>
        </p:nvSpPr>
        <p:spPr>
          <a:xfrm>
            <a:off x="548640" y="1627632"/>
            <a:ext cx="11091672" cy="36576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The lasting contribution is the design knowledge — four principles that outlive this implementation.</a:t>
            </a:r>
            <a:endParaRPr lang="en-US" sz="1400" dirty="0"/>
          </a:p>
        </p:txBody>
      </p:sp>
      <p:sp>
        <p:nvSpPr>
          <p:cNvPr id="5" name="Shape 3"/>
          <p:cNvSpPr/>
          <p:nvPr/>
        </p:nvSpPr>
        <p:spPr>
          <a:xfrm>
            <a:off x="548640" y="2194560"/>
            <a:ext cx="5317236" cy="1627632"/>
          </a:xfrm>
          <a:prstGeom prst="roundRect">
            <a:avLst>
              <a:gd name="adj" fmla="val 3933"/>
            </a:avLst>
          </a:prstGeom>
          <a:solidFill>
            <a:srgbClr val="F4F5F7"/>
          </a:solidFill>
          <a:ln w="12700">
            <a:solidFill>
              <a:srgbClr val="D6DAE2"/>
            </a:solidFill>
            <a:prstDash val="solid"/>
          </a:ln>
          <a:effectLst>
            <a:outerShdw sx="100000" sy="100000" kx="0" ky="0" algn="bl" rotWithShape="0" blurRad="88900" dist="38100" dir="5400000">
              <a:srgbClr val="000000">
                <a:alpha val="12000"/>
              </a:srgbClr>
            </a:outerShdw>
          </a:effectLst>
        </p:spPr>
      </p:sp>
      <p:sp>
        <p:nvSpPr>
          <p:cNvPr id="6" name="Shape 4"/>
          <p:cNvSpPr/>
          <p:nvPr/>
        </p:nvSpPr>
        <p:spPr>
          <a:xfrm>
            <a:off x="822960" y="2487168"/>
            <a:ext cx="512064" cy="512064"/>
          </a:xfrm>
          <a:prstGeom prst="ellipse">
            <a:avLst/>
          </a:prstGeom>
          <a:solidFill>
            <a:srgbClr val="990000"/>
          </a:solidFill>
          <a:ln/>
        </p:spPr>
      </p:sp>
      <p:sp>
        <p:nvSpPr>
          <p:cNvPr id="7" name="Text 5"/>
          <p:cNvSpPr/>
          <p:nvPr/>
        </p:nvSpPr>
        <p:spPr>
          <a:xfrm>
            <a:off x="822960" y="2487168"/>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P1</a:t>
            </a:r>
            <a:endParaRPr lang="en-US" sz="1300" dirty="0"/>
          </a:p>
        </p:txBody>
      </p:sp>
      <p:sp>
        <p:nvSpPr>
          <p:cNvPr id="8" name="Text 6"/>
          <p:cNvSpPr/>
          <p:nvPr/>
        </p:nvSpPr>
        <p:spPr>
          <a:xfrm>
            <a:off x="1508760" y="2468880"/>
            <a:ext cx="4128516" cy="566928"/>
          </a:xfrm>
          <a:prstGeom prst="rect">
            <a:avLst/>
          </a:prstGeom>
          <a:noFill/>
          <a:ln/>
        </p:spPr>
        <p:txBody>
          <a:bodyPr wrap="square" lIns="0" tIns="0" rIns="0" bIns="0" rtlCol="0" anchor="ctr"/>
          <a:lstStyle/>
          <a:p>
            <a:pPr indent="0" marL="0">
              <a:lnSpc>
                <a:spcPct val="98000"/>
              </a:lnSpc>
              <a:buNone/>
            </a:pPr>
            <a:r>
              <a:rPr lang="en-US" sz="1600" b="1" dirty="0">
                <a:solidFill>
                  <a:srgbClr val="1A1A1A"/>
                </a:solidFill>
                <a:latin typeface="Arial" pitchFamily="34" charset="0"/>
                <a:ea typeface="Arial" pitchFamily="34" charset="-122"/>
                <a:cs typeface="Arial" pitchFamily="34" charset="-120"/>
              </a:rPr>
              <a:t>Boundary as a build-time invariant</a:t>
            </a:r>
            <a:endParaRPr lang="en-US" sz="1600" dirty="0"/>
          </a:p>
        </p:txBody>
      </p:sp>
      <p:sp>
        <p:nvSpPr>
          <p:cNvPr id="9" name="Text 7"/>
          <p:cNvSpPr/>
          <p:nvPr/>
        </p:nvSpPr>
        <p:spPr>
          <a:xfrm>
            <a:off x="859536" y="3108960"/>
            <a:ext cx="4713732" cy="603504"/>
          </a:xfrm>
          <a:prstGeom prst="rect">
            <a:avLst/>
          </a:prstGeom>
          <a:noFill/>
          <a:ln/>
        </p:spPr>
        <p:txBody>
          <a:bodyPr wrap="square" lIns="0" tIns="0" rIns="0" bIns="0" rtlCol="0" anchor="t"/>
          <a:lstStyle/>
          <a:p>
            <a:pPr indent="0" marL="0">
              <a:lnSpc>
                <a:spcPct val="105000"/>
              </a:lnSpc>
              <a:buNone/>
            </a:pPr>
            <a:r>
              <a:rPr lang="en-US" sz="1250" dirty="0">
                <a:solidFill>
                  <a:srgbClr val="3A3F49"/>
                </a:solidFill>
                <a:latin typeface="Arial" pitchFamily="34" charset="0"/>
                <a:ea typeface="Arial" pitchFamily="34" charset="-122"/>
                <a:cs typeface="Arial" pitchFamily="34" charset="-120"/>
              </a:rPr>
              <a:t>Enforce the module boundary in the build, not by convention — so it cannot silently erode.</a:t>
            </a:r>
            <a:endParaRPr lang="en-US" sz="1250" dirty="0"/>
          </a:p>
        </p:txBody>
      </p:sp>
      <p:sp>
        <p:nvSpPr>
          <p:cNvPr id="10" name="Shape 8"/>
          <p:cNvSpPr/>
          <p:nvPr/>
        </p:nvSpPr>
        <p:spPr>
          <a:xfrm>
            <a:off x="6323076" y="2194560"/>
            <a:ext cx="5317236" cy="1627632"/>
          </a:xfrm>
          <a:prstGeom prst="roundRect">
            <a:avLst>
              <a:gd name="adj" fmla="val 3933"/>
            </a:avLst>
          </a:prstGeom>
          <a:solidFill>
            <a:srgbClr val="F4F5F7"/>
          </a:solidFill>
          <a:ln w="12700">
            <a:solidFill>
              <a:srgbClr val="D6DAE2"/>
            </a:solidFill>
            <a:prstDash val="solid"/>
          </a:ln>
          <a:effectLst>
            <a:outerShdw sx="100000" sy="100000" kx="0" ky="0" algn="bl" rotWithShape="0" blurRad="88900" dist="38100" dir="5400000">
              <a:srgbClr val="000000">
                <a:alpha val="12000"/>
              </a:srgbClr>
            </a:outerShdw>
          </a:effectLst>
        </p:spPr>
      </p:sp>
      <p:sp>
        <p:nvSpPr>
          <p:cNvPr id="11" name="Shape 9"/>
          <p:cNvSpPr/>
          <p:nvPr/>
        </p:nvSpPr>
        <p:spPr>
          <a:xfrm>
            <a:off x="6597396" y="2487168"/>
            <a:ext cx="512064" cy="512064"/>
          </a:xfrm>
          <a:prstGeom prst="ellipse">
            <a:avLst/>
          </a:prstGeom>
          <a:solidFill>
            <a:srgbClr val="030F4F"/>
          </a:solidFill>
          <a:ln/>
        </p:spPr>
      </p:sp>
      <p:sp>
        <p:nvSpPr>
          <p:cNvPr id="12" name="Text 10"/>
          <p:cNvSpPr/>
          <p:nvPr/>
        </p:nvSpPr>
        <p:spPr>
          <a:xfrm>
            <a:off x="6597396" y="2487168"/>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P2</a:t>
            </a:r>
            <a:endParaRPr lang="en-US" sz="1300" dirty="0"/>
          </a:p>
        </p:txBody>
      </p:sp>
      <p:sp>
        <p:nvSpPr>
          <p:cNvPr id="13" name="Text 11"/>
          <p:cNvSpPr/>
          <p:nvPr/>
        </p:nvSpPr>
        <p:spPr>
          <a:xfrm>
            <a:off x="7283196" y="2468880"/>
            <a:ext cx="4128516" cy="566928"/>
          </a:xfrm>
          <a:prstGeom prst="rect">
            <a:avLst/>
          </a:prstGeom>
          <a:noFill/>
          <a:ln/>
        </p:spPr>
        <p:txBody>
          <a:bodyPr wrap="square" lIns="0" tIns="0" rIns="0" bIns="0" rtlCol="0" anchor="ctr"/>
          <a:lstStyle/>
          <a:p>
            <a:pPr indent="0" marL="0">
              <a:lnSpc>
                <a:spcPct val="98000"/>
              </a:lnSpc>
              <a:buNone/>
            </a:pPr>
            <a:r>
              <a:rPr lang="en-US" sz="1600" b="1" dirty="0">
                <a:solidFill>
                  <a:srgbClr val="1A1A1A"/>
                </a:solidFill>
                <a:latin typeface="Arial" pitchFamily="34" charset="0"/>
                <a:ea typeface="Arial" pitchFamily="34" charset="-122"/>
                <a:cs typeface="Arial" pitchFamily="34" charset="-120"/>
              </a:rPr>
              <a:t>Validate the contract from outside</a:t>
            </a:r>
            <a:endParaRPr lang="en-US" sz="1600" dirty="0"/>
          </a:p>
        </p:txBody>
      </p:sp>
      <p:sp>
        <p:nvSpPr>
          <p:cNvPr id="14" name="Text 12"/>
          <p:cNvSpPr/>
          <p:nvPr/>
        </p:nvSpPr>
        <p:spPr>
          <a:xfrm>
            <a:off x="6633972" y="3108960"/>
            <a:ext cx="4713732" cy="603504"/>
          </a:xfrm>
          <a:prstGeom prst="rect">
            <a:avLst/>
          </a:prstGeom>
          <a:noFill/>
          <a:ln/>
        </p:spPr>
        <p:txBody>
          <a:bodyPr wrap="square" lIns="0" tIns="0" rIns="0" bIns="0" rtlCol="0" anchor="t"/>
          <a:lstStyle/>
          <a:p>
            <a:pPr indent="0" marL="0">
              <a:lnSpc>
                <a:spcPct val="105000"/>
              </a:lnSpc>
              <a:buNone/>
            </a:pPr>
            <a:r>
              <a:rPr lang="en-US" sz="1250" dirty="0">
                <a:solidFill>
                  <a:srgbClr val="3A3F49"/>
                </a:solidFill>
                <a:latin typeface="Arial" pitchFamily="34" charset="0"/>
                <a:ea typeface="Arial" pitchFamily="34" charset="-122"/>
                <a:cs typeface="Arial" pitchFamily="34" charset="-120"/>
              </a:rPr>
              <a:t>Prove a seam by having an outsider integrate against it, not only its own authors.</a:t>
            </a:r>
            <a:endParaRPr lang="en-US" sz="1250" dirty="0"/>
          </a:p>
        </p:txBody>
      </p:sp>
      <p:sp>
        <p:nvSpPr>
          <p:cNvPr id="15" name="Shape 13"/>
          <p:cNvSpPr/>
          <p:nvPr/>
        </p:nvSpPr>
        <p:spPr>
          <a:xfrm>
            <a:off x="548640" y="4233672"/>
            <a:ext cx="5317236" cy="1627632"/>
          </a:xfrm>
          <a:prstGeom prst="roundRect">
            <a:avLst>
              <a:gd name="adj" fmla="val 3933"/>
            </a:avLst>
          </a:prstGeom>
          <a:solidFill>
            <a:srgbClr val="F4F5F7"/>
          </a:solidFill>
          <a:ln w="12700">
            <a:solidFill>
              <a:srgbClr val="D6DAE2"/>
            </a:solidFill>
            <a:prstDash val="solid"/>
          </a:ln>
          <a:effectLst>
            <a:outerShdw sx="100000" sy="100000" kx="0" ky="0" algn="bl" rotWithShape="0" blurRad="88900" dist="38100" dir="5400000">
              <a:srgbClr val="000000">
                <a:alpha val="12000"/>
              </a:srgbClr>
            </a:outerShdw>
          </a:effectLst>
        </p:spPr>
      </p:sp>
      <p:sp>
        <p:nvSpPr>
          <p:cNvPr id="16" name="Shape 14"/>
          <p:cNvSpPr/>
          <p:nvPr/>
        </p:nvSpPr>
        <p:spPr>
          <a:xfrm>
            <a:off x="822960" y="4526280"/>
            <a:ext cx="512064" cy="512064"/>
          </a:xfrm>
          <a:prstGeom prst="ellipse">
            <a:avLst/>
          </a:prstGeom>
          <a:solidFill>
            <a:srgbClr val="990000"/>
          </a:solidFill>
          <a:ln/>
        </p:spPr>
      </p:sp>
      <p:sp>
        <p:nvSpPr>
          <p:cNvPr id="17" name="Text 15"/>
          <p:cNvSpPr/>
          <p:nvPr/>
        </p:nvSpPr>
        <p:spPr>
          <a:xfrm>
            <a:off x="822960" y="4526280"/>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P3</a:t>
            </a:r>
            <a:endParaRPr lang="en-US" sz="1300" dirty="0"/>
          </a:p>
        </p:txBody>
      </p:sp>
      <p:sp>
        <p:nvSpPr>
          <p:cNvPr id="18" name="Text 16"/>
          <p:cNvSpPr/>
          <p:nvPr/>
        </p:nvSpPr>
        <p:spPr>
          <a:xfrm>
            <a:off x="1508760" y="4507992"/>
            <a:ext cx="4128516" cy="566928"/>
          </a:xfrm>
          <a:prstGeom prst="rect">
            <a:avLst/>
          </a:prstGeom>
          <a:noFill/>
          <a:ln/>
        </p:spPr>
        <p:txBody>
          <a:bodyPr wrap="square" lIns="0" tIns="0" rIns="0" bIns="0" rtlCol="0" anchor="ctr"/>
          <a:lstStyle/>
          <a:p>
            <a:pPr indent="0" marL="0">
              <a:lnSpc>
                <a:spcPct val="98000"/>
              </a:lnSpc>
              <a:buNone/>
            </a:pPr>
            <a:r>
              <a:rPr lang="en-US" sz="1600" b="1" dirty="0">
                <a:solidFill>
                  <a:srgbClr val="1A1A1A"/>
                </a:solidFill>
                <a:latin typeface="Arial" pitchFamily="34" charset="0"/>
                <a:ea typeface="Arial" pitchFamily="34" charset="-122"/>
                <a:cs typeface="Arial" pitchFamily="34" charset="-120"/>
              </a:rPr>
              <a:t>Measure the cost you claim</a:t>
            </a:r>
            <a:endParaRPr lang="en-US" sz="1600" dirty="0"/>
          </a:p>
        </p:txBody>
      </p:sp>
      <p:sp>
        <p:nvSpPr>
          <p:cNvPr id="19" name="Text 17"/>
          <p:cNvSpPr/>
          <p:nvPr/>
        </p:nvSpPr>
        <p:spPr>
          <a:xfrm>
            <a:off x="859536" y="5148072"/>
            <a:ext cx="4713732" cy="603504"/>
          </a:xfrm>
          <a:prstGeom prst="rect">
            <a:avLst/>
          </a:prstGeom>
          <a:noFill/>
          <a:ln/>
        </p:spPr>
        <p:txBody>
          <a:bodyPr wrap="square" lIns="0" tIns="0" rIns="0" bIns="0" rtlCol="0" anchor="t"/>
          <a:lstStyle/>
          <a:p>
            <a:pPr indent="0" marL="0">
              <a:lnSpc>
                <a:spcPct val="105000"/>
              </a:lnSpc>
              <a:buNone/>
            </a:pPr>
            <a:r>
              <a:rPr lang="en-US" sz="1250" dirty="0">
                <a:solidFill>
                  <a:srgbClr val="3A3F49"/>
                </a:solidFill>
                <a:latin typeface="Arial" pitchFamily="34" charset="0"/>
                <a:ea typeface="Arial" pitchFamily="34" charset="-122"/>
                <a:cs typeface="Arial" pitchFamily="34" charset="-120"/>
              </a:rPr>
              <a:t>Every quality attribute the architecture asserts (latency, replaceability) is measured, not assumed.</a:t>
            </a:r>
            <a:endParaRPr lang="en-US" sz="1250" dirty="0"/>
          </a:p>
        </p:txBody>
      </p:sp>
      <p:sp>
        <p:nvSpPr>
          <p:cNvPr id="20" name="Shape 18"/>
          <p:cNvSpPr/>
          <p:nvPr/>
        </p:nvSpPr>
        <p:spPr>
          <a:xfrm>
            <a:off x="6323076" y="4233672"/>
            <a:ext cx="5317236" cy="1627632"/>
          </a:xfrm>
          <a:prstGeom prst="roundRect">
            <a:avLst>
              <a:gd name="adj" fmla="val 3933"/>
            </a:avLst>
          </a:prstGeom>
          <a:solidFill>
            <a:srgbClr val="F4F5F7"/>
          </a:solidFill>
          <a:ln w="12700">
            <a:solidFill>
              <a:srgbClr val="D6DAE2"/>
            </a:solidFill>
            <a:prstDash val="solid"/>
          </a:ln>
          <a:effectLst>
            <a:outerShdw sx="100000" sy="100000" kx="0" ky="0" algn="bl" rotWithShape="0" blurRad="88900" dist="38100" dir="5400000">
              <a:srgbClr val="000000">
                <a:alpha val="12000"/>
              </a:srgbClr>
            </a:outerShdw>
          </a:effectLst>
        </p:spPr>
      </p:sp>
      <p:sp>
        <p:nvSpPr>
          <p:cNvPr id="21" name="Shape 19"/>
          <p:cNvSpPr/>
          <p:nvPr/>
        </p:nvSpPr>
        <p:spPr>
          <a:xfrm>
            <a:off x="6597396" y="4526280"/>
            <a:ext cx="512064" cy="512064"/>
          </a:xfrm>
          <a:prstGeom prst="ellipse">
            <a:avLst/>
          </a:prstGeom>
          <a:solidFill>
            <a:srgbClr val="030F4F"/>
          </a:solidFill>
          <a:ln/>
        </p:spPr>
      </p:sp>
      <p:sp>
        <p:nvSpPr>
          <p:cNvPr id="22" name="Text 20"/>
          <p:cNvSpPr/>
          <p:nvPr/>
        </p:nvSpPr>
        <p:spPr>
          <a:xfrm>
            <a:off x="6597396" y="4526280"/>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P4</a:t>
            </a:r>
            <a:endParaRPr lang="en-US" sz="1300" dirty="0"/>
          </a:p>
        </p:txBody>
      </p:sp>
      <p:sp>
        <p:nvSpPr>
          <p:cNvPr id="23" name="Text 21"/>
          <p:cNvSpPr/>
          <p:nvPr/>
        </p:nvSpPr>
        <p:spPr>
          <a:xfrm>
            <a:off x="7283196" y="4507992"/>
            <a:ext cx="4128516" cy="566928"/>
          </a:xfrm>
          <a:prstGeom prst="rect">
            <a:avLst/>
          </a:prstGeom>
          <a:noFill/>
          <a:ln/>
        </p:spPr>
        <p:txBody>
          <a:bodyPr wrap="square" lIns="0" tIns="0" rIns="0" bIns="0" rtlCol="0" anchor="ctr"/>
          <a:lstStyle/>
          <a:p>
            <a:pPr indent="0" marL="0">
              <a:lnSpc>
                <a:spcPct val="98000"/>
              </a:lnSpc>
              <a:buNone/>
            </a:pPr>
            <a:r>
              <a:rPr lang="en-US" sz="1600" b="1" dirty="0">
                <a:solidFill>
                  <a:srgbClr val="1A1A1A"/>
                </a:solidFill>
                <a:latin typeface="Arial" pitchFamily="34" charset="0"/>
                <a:ea typeface="Arial" pitchFamily="34" charset="-122"/>
                <a:cs typeface="Arial" pitchFamily="34" charset="-120"/>
              </a:rPr>
              <a:t>Separate decision from commit</a:t>
            </a:r>
            <a:endParaRPr lang="en-US" sz="1600" dirty="0"/>
          </a:p>
        </p:txBody>
      </p:sp>
      <p:sp>
        <p:nvSpPr>
          <p:cNvPr id="24" name="Text 22"/>
          <p:cNvSpPr/>
          <p:nvPr/>
        </p:nvSpPr>
        <p:spPr>
          <a:xfrm>
            <a:off x="6633972" y="5148072"/>
            <a:ext cx="4713732" cy="603504"/>
          </a:xfrm>
          <a:prstGeom prst="rect">
            <a:avLst/>
          </a:prstGeom>
          <a:noFill/>
          <a:ln/>
        </p:spPr>
        <p:txBody>
          <a:bodyPr wrap="square" lIns="0" tIns="0" rIns="0" bIns="0" rtlCol="0" anchor="t"/>
          <a:lstStyle/>
          <a:p>
            <a:pPr indent="0" marL="0">
              <a:lnSpc>
                <a:spcPct val="105000"/>
              </a:lnSpc>
              <a:buNone/>
            </a:pPr>
            <a:r>
              <a:rPr lang="en-US" sz="1250" dirty="0">
                <a:solidFill>
                  <a:srgbClr val="3A3F49"/>
                </a:solidFill>
                <a:latin typeface="Arial" pitchFamily="34" charset="0"/>
                <a:ea typeface="Arial" pitchFamily="34" charset="-122"/>
                <a:cs typeface="Arial" pitchFamily="34" charset="-120"/>
              </a:rPr>
              <a:t>Decide a change and commit it as two steps, so a disruptive update lands at a natural break.</a:t>
            </a:r>
            <a:endParaRPr lang="en-US" sz="1250" dirty="0"/>
          </a:p>
        </p:txBody>
      </p:sp>
      <p:sp>
        <p:nvSpPr>
          <p:cNvPr id="26" name="Text 23"/>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Reading the Reader · MSc Thesis Defense</a:t>
            </a:r>
            <a:endParaRPr lang="en-US" sz="900" dirty="0"/>
          </a:p>
        </p:txBody>
      </p:sp>
      <p:sp>
        <p:nvSpPr>
          <p:cNvPr id="27" name="Text 24"/>
          <p:cNvSpPr/>
          <p:nvPr/>
        </p:nvSpPr>
        <p:spPr>
          <a:xfrm>
            <a:off x="11091672" y="6473952"/>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20624"/>
            <a:ext cx="11091672" cy="274320"/>
          </a:xfrm>
          <a:prstGeom prst="rect">
            <a:avLst/>
          </a:prstGeom>
          <a:noFill/>
          <a:ln/>
        </p:spPr>
        <p:txBody>
          <a:bodyPr wrap="square" lIns="0" tIns="0" rIns="0" bIns="0" rtlCol="0" anchor="ctr"/>
          <a:lstStyle/>
          <a:p>
            <a:pPr indent="0" marL="0">
              <a:buNone/>
            </a:pPr>
            <a:r>
              <a:rPr lang="en-US" sz="1250" b="1" spc="250" kern="0" dirty="0">
                <a:solidFill>
                  <a:srgbClr val="990000"/>
                </a:solidFill>
                <a:latin typeface="Arial" pitchFamily="34" charset="0"/>
                <a:ea typeface="Arial" pitchFamily="34" charset="-122"/>
                <a:cs typeface="Arial" pitchFamily="34" charset="-120"/>
              </a:rPr>
              <a:t>HONEST REFLECTION</a:t>
            </a:r>
            <a:endParaRPr lang="en-US" sz="1250" dirty="0"/>
          </a:p>
        </p:txBody>
      </p:sp>
      <p:sp>
        <p:nvSpPr>
          <p:cNvPr id="3" name="Text 1"/>
          <p:cNvSpPr/>
          <p:nvPr/>
        </p:nvSpPr>
        <p:spPr>
          <a:xfrm>
            <a:off x="548640" y="676656"/>
            <a:ext cx="11091672" cy="777240"/>
          </a:xfrm>
          <a:prstGeom prst="rect">
            <a:avLst/>
          </a:prstGeom>
          <a:noFill/>
          <a:ln/>
        </p:spPr>
        <p:txBody>
          <a:bodyPr wrap="square" lIns="0" tIns="0" rIns="0" bIns="0" rtlCol="0" anchor="t"/>
          <a:lstStyle/>
          <a:p>
            <a:pPr indent="0" marL="0">
              <a:lnSpc>
                <a:spcPct val="98000"/>
              </a:lnSpc>
              <a:buNone/>
            </a:pPr>
            <a:r>
              <a:rPr lang="en-US" sz="2900" b="1" dirty="0">
                <a:solidFill>
                  <a:srgbClr val="1A1A1A"/>
                </a:solidFill>
                <a:latin typeface="Arial" pitchFamily="34" charset="0"/>
                <a:ea typeface="Arial" pitchFamily="34" charset="-122"/>
                <a:cs typeface="Arial" pitchFamily="34" charset="-120"/>
              </a:rPr>
              <a:t>What we would flag, and what comes next</a:t>
            </a:r>
            <a:endParaRPr lang="en-US" sz="2900" dirty="0"/>
          </a:p>
        </p:txBody>
      </p:sp>
      <p:sp>
        <p:nvSpPr>
          <p:cNvPr id="4" name="Shape 2"/>
          <p:cNvSpPr/>
          <p:nvPr/>
        </p:nvSpPr>
        <p:spPr>
          <a:xfrm>
            <a:off x="548640" y="1627632"/>
            <a:ext cx="5317236" cy="4023360"/>
          </a:xfrm>
          <a:prstGeom prst="roundRect">
            <a:avLst>
              <a:gd name="adj" fmla="val 1591"/>
            </a:avLst>
          </a:prstGeom>
          <a:solidFill>
            <a:srgbClr val="F6ECEC"/>
          </a:solidFill>
          <a:ln w="12700">
            <a:solidFill>
              <a:srgbClr val="E3C9C9"/>
            </a:solidFill>
            <a:prstDash val="solid"/>
          </a:ln>
        </p:spPr>
      </p:sp>
      <p:sp>
        <p:nvSpPr>
          <p:cNvPr id="5" name="Text 3"/>
          <p:cNvSpPr/>
          <p:nvPr/>
        </p:nvSpPr>
        <p:spPr>
          <a:xfrm>
            <a:off x="841248" y="1865376"/>
            <a:ext cx="4732020" cy="320040"/>
          </a:xfrm>
          <a:prstGeom prst="rect">
            <a:avLst/>
          </a:prstGeom>
          <a:noFill/>
          <a:ln/>
        </p:spPr>
        <p:txBody>
          <a:bodyPr wrap="square" lIns="0" tIns="0" rIns="0" bIns="0" rtlCol="0" anchor="ctr"/>
          <a:lstStyle/>
          <a:p>
            <a:pPr indent="0" marL="0">
              <a:buNone/>
            </a:pPr>
            <a:r>
              <a:rPr lang="en-US" sz="1300" b="1" spc="150" kern="0" dirty="0">
                <a:solidFill>
                  <a:srgbClr val="990000"/>
                </a:solidFill>
                <a:latin typeface="Arial" pitchFamily="34" charset="0"/>
                <a:ea typeface="Arial" pitchFamily="34" charset="-122"/>
                <a:cs typeface="Arial" pitchFamily="34" charset="-120"/>
              </a:rPr>
              <a:t>STATED LIMITATIONS</a:t>
            </a:r>
            <a:endParaRPr lang="en-US" sz="1300" dirty="0"/>
          </a:p>
        </p:txBody>
      </p:sp>
      <p:sp>
        <p:nvSpPr>
          <p:cNvPr id="6" name="Text 4"/>
          <p:cNvSpPr/>
          <p:nvPr/>
        </p:nvSpPr>
        <p:spPr>
          <a:xfrm>
            <a:off x="841248" y="2313432"/>
            <a:ext cx="4732020"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Decision path: single-run validation</a:t>
            </a:r>
            <a:endParaRPr lang="en-US" sz="1400" dirty="0"/>
          </a:p>
        </p:txBody>
      </p:sp>
      <p:sp>
        <p:nvSpPr>
          <p:cNvPr id="7" name="Text 5"/>
          <p:cNvSpPr/>
          <p:nvPr/>
        </p:nvSpPr>
        <p:spPr>
          <a:xfrm>
            <a:off x="841248" y="2697480"/>
            <a:ext cx="4732020" cy="1097280"/>
          </a:xfrm>
          <a:prstGeom prst="rect">
            <a:avLst/>
          </a:prstGeom>
          <a:noFill/>
          <a:ln/>
        </p:spPr>
        <p:txBody>
          <a:bodyPr wrap="square" lIns="0" tIns="0" rIns="0" bIns="0" rtlCol="0" anchor="t"/>
          <a:lstStyle/>
          <a:p>
            <a:pPr indent="0" marL="0">
              <a:lnSpc>
                <a:spcPct val="106000"/>
              </a:lnSpc>
              <a:buNone/>
            </a:pPr>
            <a:r>
              <a:rPr lang="en-US" sz="1250" dirty="0">
                <a:solidFill>
                  <a:srgbClr val="3A3F49"/>
                </a:solidFill>
                <a:latin typeface="Arial" pitchFamily="34" charset="0"/>
                <a:ea typeface="Arial" pitchFamily="34" charset="-122"/>
                <a:cs typeface="Arial" pitchFamily="34" charset="-120"/>
              </a:rPr>
              <a:t>The automated decision path was exercised within budget in one advisory-mode run, not at campaign scale. We treat it as a feasibility check, not a benchmark.</a:t>
            </a:r>
            <a:endParaRPr lang="en-US" sz="1250" dirty="0"/>
          </a:p>
        </p:txBody>
      </p:sp>
      <p:sp>
        <p:nvSpPr>
          <p:cNvPr id="8" name="Text 6"/>
          <p:cNvSpPr/>
          <p:nvPr/>
        </p:nvSpPr>
        <p:spPr>
          <a:xfrm>
            <a:off x="841248" y="3941064"/>
            <a:ext cx="4732020"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Restore over-repositions on small reflows</a:t>
            </a:r>
            <a:endParaRPr lang="en-US" sz="1400" dirty="0"/>
          </a:p>
        </p:txBody>
      </p:sp>
      <p:sp>
        <p:nvSpPr>
          <p:cNvPr id="9" name="Text 7"/>
          <p:cNvSpPr/>
          <p:nvPr/>
        </p:nvSpPr>
        <p:spPr>
          <a:xfrm>
            <a:off x="841248" y="4325112"/>
            <a:ext cx="4732020" cy="1097280"/>
          </a:xfrm>
          <a:prstGeom prst="rect">
            <a:avLst/>
          </a:prstGeom>
          <a:noFill/>
          <a:ln/>
        </p:spPr>
        <p:txBody>
          <a:bodyPr wrap="square" lIns="0" tIns="0" rIns="0" bIns="0" rtlCol="0" anchor="t"/>
          <a:lstStyle/>
          <a:p>
            <a:pPr indent="0" marL="0">
              <a:lnSpc>
                <a:spcPct val="106000"/>
              </a:lnSpc>
              <a:buNone/>
            </a:pPr>
            <a:r>
              <a:rPr lang="en-US" sz="1250" dirty="0">
                <a:solidFill>
                  <a:srgbClr val="3A3F49"/>
                </a:solidFill>
                <a:latin typeface="Arial" pitchFamily="34" charset="0"/>
                <a:ea typeface="Arial" pitchFamily="34" charset="-122"/>
                <a:cs typeface="Arial" pitchFamily="34" charset="-120"/>
              </a:rPr>
              <a:t>The context-preserving restore moves the reader slightly too far when a reflow is small — an honest residual we measured rather than hid.</a:t>
            </a:r>
            <a:endParaRPr lang="en-US" sz="1250" dirty="0"/>
          </a:p>
        </p:txBody>
      </p:sp>
      <p:sp>
        <p:nvSpPr>
          <p:cNvPr id="10" name="Shape 8"/>
          <p:cNvSpPr/>
          <p:nvPr/>
        </p:nvSpPr>
        <p:spPr>
          <a:xfrm>
            <a:off x="6323076" y="1627632"/>
            <a:ext cx="5317236" cy="4023360"/>
          </a:xfrm>
          <a:prstGeom prst="roundRect">
            <a:avLst>
              <a:gd name="adj" fmla="val 1591"/>
            </a:avLst>
          </a:prstGeom>
          <a:solidFill>
            <a:srgbClr val="ECEEF4"/>
          </a:solidFill>
          <a:ln w="12700">
            <a:solidFill>
              <a:srgbClr val="D6DAE2"/>
            </a:solidFill>
            <a:prstDash val="solid"/>
          </a:ln>
        </p:spPr>
      </p:sp>
      <p:sp>
        <p:nvSpPr>
          <p:cNvPr id="11" name="Text 9"/>
          <p:cNvSpPr/>
          <p:nvPr/>
        </p:nvSpPr>
        <p:spPr>
          <a:xfrm>
            <a:off x="6615684" y="1865376"/>
            <a:ext cx="4732020" cy="320040"/>
          </a:xfrm>
          <a:prstGeom prst="rect">
            <a:avLst/>
          </a:prstGeom>
          <a:noFill/>
          <a:ln/>
        </p:spPr>
        <p:txBody>
          <a:bodyPr wrap="square" lIns="0" tIns="0" rIns="0" bIns="0" rtlCol="0" anchor="ctr"/>
          <a:lstStyle/>
          <a:p>
            <a:pPr indent="0" marL="0">
              <a:buNone/>
            </a:pPr>
            <a:r>
              <a:rPr lang="en-US" sz="1300" b="1" spc="120" kern="0" dirty="0">
                <a:solidFill>
                  <a:srgbClr val="030F4F"/>
                </a:solidFill>
                <a:latin typeface="Arial" pitchFamily="34" charset="0"/>
                <a:ea typeface="Arial" pitchFamily="34" charset="-122"/>
                <a:cs typeface="Arial" pitchFamily="34" charset="-120"/>
              </a:rPr>
              <a:t>WHAT THE PLATFORM NOW UNBLOCKS</a:t>
            </a:r>
            <a:endParaRPr lang="en-US" sz="1300" dirty="0"/>
          </a:p>
        </p:txBody>
      </p:sp>
      <p:sp>
        <p:nvSpPr>
          <p:cNvPr id="12" name="Shape 10"/>
          <p:cNvSpPr/>
          <p:nvPr/>
        </p:nvSpPr>
        <p:spPr>
          <a:xfrm>
            <a:off x="6615684" y="2359152"/>
            <a:ext cx="402336" cy="402336"/>
          </a:xfrm>
          <a:prstGeom prst="ellipse">
            <a:avLst/>
          </a:prstGeom>
          <a:solidFill>
            <a:srgbClr val="030F4F"/>
          </a:solidFill>
          <a:ln/>
        </p:spPr>
      </p:sp>
      <p:sp>
        <p:nvSpPr>
          <p:cNvPr id="13" name="Text 11"/>
          <p:cNvSpPr/>
          <p:nvPr/>
        </p:nvSpPr>
        <p:spPr>
          <a:xfrm>
            <a:off x="6615684" y="23591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4" name="Text 12"/>
          <p:cNvSpPr/>
          <p:nvPr/>
        </p:nvSpPr>
        <p:spPr>
          <a:xfrm>
            <a:off x="7146036" y="2322576"/>
            <a:ext cx="4219956" cy="329184"/>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External AI decision provider</a:t>
            </a:r>
            <a:endParaRPr lang="en-US" sz="1400" dirty="0"/>
          </a:p>
        </p:txBody>
      </p:sp>
      <p:sp>
        <p:nvSpPr>
          <p:cNvPr id="15" name="Text 13"/>
          <p:cNvSpPr/>
          <p:nvPr/>
        </p:nvSpPr>
        <p:spPr>
          <a:xfrm>
            <a:off x="7146036" y="2651760"/>
            <a:ext cx="4219956" cy="640080"/>
          </a:xfrm>
          <a:prstGeom prst="rect">
            <a:avLst/>
          </a:prstGeom>
          <a:noFill/>
          <a:ln/>
        </p:spPr>
        <p:txBody>
          <a:bodyPr wrap="square" lIns="0" tIns="0" rIns="0" bIns="0" rtlCol="0" anchor="t"/>
          <a:lstStyle/>
          <a:p>
            <a:pPr indent="0" marL="0">
              <a:lnSpc>
                <a:spcPct val="104000"/>
              </a:lnSpc>
              <a:buNone/>
            </a:pPr>
            <a:r>
              <a:rPr lang="en-US" sz="1200" dirty="0">
                <a:solidFill>
                  <a:srgbClr val="3A3F49"/>
                </a:solidFill>
                <a:latin typeface="Arial" pitchFamily="34" charset="0"/>
                <a:ea typeface="Arial" pitchFamily="34" charset="-122"/>
                <a:cs typeface="Arial" pitchFamily="34" charset="-120"/>
              </a:rPr>
              <a:t>A trained reading-state model attaches over the existing decision seam — no core change.</a:t>
            </a:r>
            <a:endParaRPr lang="en-US" sz="1200" dirty="0"/>
          </a:p>
        </p:txBody>
      </p:sp>
      <p:sp>
        <p:nvSpPr>
          <p:cNvPr id="16" name="Shape 14"/>
          <p:cNvSpPr/>
          <p:nvPr/>
        </p:nvSpPr>
        <p:spPr>
          <a:xfrm>
            <a:off x="6615684" y="3438144"/>
            <a:ext cx="402336" cy="402336"/>
          </a:xfrm>
          <a:prstGeom prst="ellipse">
            <a:avLst/>
          </a:prstGeom>
          <a:solidFill>
            <a:srgbClr val="030F4F"/>
          </a:solidFill>
          <a:ln/>
        </p:spPr>
      </p:sp>
      <p:sp>
        <p:nvSpPr>
          <p:cNvPr id="17" name="Text 15"/>
          <p:cNvSpPr/>
          <p:nvPr/>
        </p:nvSpPr>
        <p:spPr>
          <a:xfrm>
            <a:off x="6615684" y="343814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8" name="Text 16"/>
          <p:cNvSpPr/>
          <p:nvPr/>
        </p:nvSpPr>
        <p:spPr>
          <a:xfrm>
            <a:off x="7146036" y="3401568"/>
            <a:ext cx="4219956" cy="329184"/>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Cross-session learning loop</a:t>
            </a:r>
            <a:endParaRPr lang="en-US" sz="1400" dirty="0"/>
          </a:p>
        </p:txBody>
      </p:sp>
      <p:sp>
        <p:nvSpPr>
          <p:cNvPr id="19" name="Text 17"/>
          <p:cNvSpPr/>
          <p:nvPr/>
        </p:nvSpPr>
        <p:spPr>
          <a:xfrm>
            <a:off x="7146036" y="3730752"/>
            <a:ext cx="4219956" cy="640080"/>
          </a:xfrm>
          <a:prstGeom prst="rect">
            <a:avLst/>
          </a:prstGeom>
          <a:noFill/>
          <a:ln/>
        </p:spPr>
        <p:txBody>
          <a:bodyPr wrap="square" lIns="0" tIns="0" rIns="0" bIns="0" rtlCol="0" anchor="t"/>
          <a:lstStyle/>
          <a:p>
            <a:pPr indent="0" marL="0">
              <a:lnSpc>
                <a:spcPct val="104000"/>
              </a:lnSpc>
              <a:buNone/>
            </a:pPr>
            <a:r>
              <a:rPr lang="en-US" sz="1200" dirty="0">
                <a:solidFill>
                  <a:srgbClr val="3A3F49"/>
                </a:solidFill>
                <a:latin typeface="Arial" pitchFamily="34" charset="0"/>
                <a:ea typeface="Arial" pitchFamily="34" charset="-122"/>
                <a:cs typeface="Arial" pitchFamily="34" charset="-120"/>
              </a:rPr>
              <a:t>Exported records become a corpus to fine-tune a provider that re-enters the loop.</a:t>
            </a:r>
            <a:endParaRPr lang="en-US" sz="1200" dirty="0"/>
          </a:p>
        </p:txBody>
      </p:sp>
      <p:sp>
        <p:nvSpPr>
          <p:cNvPr id="20" name="Shape 18"/>
          <p:cNvSpPr/>
          <p:nvPr/>
        </p:nvSpPr>
        <p:spPr>
          <a:xfrm>
            <a:off x="6615684" y="4517136"/>
            <a:ext cx="402336" cy="402336"/>
          </a:xfrm>
          <a:prstGeom prst="ellipse">
            <a:avLst/>
          </a:prstGeom>
          <a:solidFill>
            <a:srgbClr val="030F4F"/>
          </a:solidFill>
          <a:ln/>
        </p:spPr>
      </p:sp>
      <p:sp>
        <p:nvSpPr>
          <p:cNvPr id="21" name="Text 19"/>
          <p:cNvSpPr/>
          <p:nvPr/>
        </p:nvSpPr>
        <p:spPr>
          <a:xfrm>
            <a:off x="6615684" y="451713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7146036" y="4480560"/>
            <a:ext cx="4219956" cy="329184"/>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Controlled efficacy study</a:t>
            </a:r>
            <a:endParaRPr lang="en-US" sz="1400" dirty="0"/>
          </a:p>
        </p:txBody>
      </p:sp>
      <p:sp>
        <p:nvSpPr>
          <p:cNvPr id="23" name="Text 21"/>
          <p:cNvSpPr/>
          <p:nvPr/>
        </p:nvSpPr>
        <p:spPr>
          <a:xfrm>
            <a:off x="7146036" y="4809744"/>
            <a:ext cx="4219956" cy="640080"/>
          </a:xfrm>
          <a:prstGeom prst="rect">
            <a:avLst/>
          </a:prstGeom>
          <a:noFill/>
          <a:ln/>
        </p:spPr>
        <p:txBody>
          <a:bodyPr wrap="square" lIns="0" tIns="0" rIns="0" bIns="0" rtlCol="0" anchor="t"/>
          <a:lstStyle/>
          <a:p>
            <a:pPr indent="0" marL="0">
              <a:lnSpc>
                <a:spcPct val="104000"/>
              </a:lnSpc>
              <a:buNone/>
            </a:pPr>
            <a:r>
              <a:rPr lang="en-US" sz="1200" dirty="0">
                <a:solidFill>
                  <a:srgbClr val="3A3F49"/>
                </a:solidFill>
                <a:latin typeface="Arial" pitchFamily="34" charset="0"/>
                <a:ea typeface="Arial" pitchFamily="34" charset="-122"/>
                <a:cs typeface="Arial" pitchFamily="34" charset="-120"/>
              </a:rPr>
              <a:t>A clinical intervention study becomes a configuration choice, not a rewrite of core code.</a:t>
            </a:r>
            <a:endParaRPr lang="en-US" sz="1200" dirty="0"/>
          </a:p>
        </p:txBody>
      </p:sp>
      <p:sp>
        <p:nvSpPr>
          <p:cNvPr id="25" name="Text 22"/>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Reading the Reader · MSc Thesis Defense</a:t>
            </a:r>
            <a:endParaRPr lang="en-US" sz="900" dirty="0"/>
          </a:p>
        </p:txBody>
      </p:sp>
      <p:sp>
        <p:nvSpPr>
          <p:cNvPr id="26" name="Text 23"/>
          <p:cNvSpPr/>
          <p:nvPr/>
        </p:nvSpPr>
        <p:spPr>
          <a:xfrm>
            <a:off x="11091672" y="6473952"/>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30F4F"/>
        </a:solidFill>
      </p:bgPr>
    </p:bg>
    <p:spTree>
      <p:nvGrpSpPr>
        <p:cNvPr id="1" name=""/>
        <p:cNvGrpSpPr/>
        <p:nvPr/>
      </p:nvGrpSpPr>
      <p:grpSpPr>
        <a:xfrm>
          <a:off x="0" y="0"/>
          <a:ext cx="0" cy="0"/>
          <a:chOff x="0" y="0"/>
          <a:chExt cx="0" cy="0"/>
        </a:xfrm>
      </p:grpSpPr>
      <p:sp>
        <p:nvSpPr>
          <p:cNvPr id="2" name="Shape 0"/>
          <p:cNvSpPr/>
          <p:nvPr/>
        </p:nvSpPr>
        <p:spPr>
          <a:xfrm>
            <a:off x="-1371600" y="-1463040"/>
            <a:ext cx="3657600" cy="3657600"/>
          </a:xfrm>
          <a:prstGeom prst="ellipse">
            <a:avLst/>
          </a:prstGeom>
          <a:solidFill>
            <a:srgbClr val="990000">
              <a:alpha val="20000"/>
            </a:srgbClr>
          </a:solidFill>
          <a:ln/>
        </p:spPr>
      </p:sp>
      <p:sp>
        <p:nvSpPr>
          <p:cNvPr id="3" name="Shape 1"/>
          <p:cNvSpPr/>
          <p:nvPr/>
        </p:nvSpPr>
        <p:spPr>
          <a:xfrm>
            <a:off x="10058400" y="4297680"/>
            <a:ext cx="3840480" cy="3840480"/>
          </a:xfrm>
          <a:prstGeom prst="ellipse">
            <a:avLst/>
          </a:prstGeom>
          <a:solidFill>
            <a:srgbClr val="990000">
              <a:alpha val="18000"/>
            </a:srgbClr>
          </a:solidFill>
          <a:ln/>
        </p:spPr>
      </p:sp>
      <p:sp>
        <p:nvSpPr>
          <p:cNvPr id="4" name="Text 2"/>
          <p:cNvSpPr/>
          <p:nvPr/>
        </p:nvSpPr>
        <p:spPr>
          <a:xfrm>
            <a:off x="548640" y="1051560"/>
            <a:ext cx="10058400" cy="320040"/>
          </a:xfrm>
          <a:prstGeom prst="rect">
            <a:avLst/>
          </a:prstGeom>
          <a:noFill/>
          <a:ln/>
        </p:spPr>
        <p:txBody>
          <a:bodyPr wrap="square" lIns="0" tIns="0" rIns="0" bIns="0" rtlCol="0" anchor="ctr"/>
          <a:lstStyle/>
          <a:p>
            <a:pPr indent="0" marL="0">
              <a:buNone/>
            </a:pPr>
            <a:r>
              <a:rPr lang="en-US" sz="1300" b="1" spc="300" kern="0" dirty="0">
                <a:solidFill>
                  <a:srgbClr val="9FB0FF"/>
                </a:solidFill>
                <a:latin typeface="Arial" pitchFamily="34" charset="0"/>
                <a:ea typeface="Arial" pitchFamily="34" charset="-122"/>
                <a:cs typeface="Arial" pitchFamily="34" charset="-120"/>
              </a:rPr>
              <a:t>IN ONE SENTENCE</a:t>
            </a:r>
            <a:endParaRPr lang="en-US" sz="1300" dirty="0"/>
          </a:p>
        </p:txBody>
      </p:sp>
      <p:sp>
        <p:nvSpPr>
          <p:cNvPr id="5" name="Text 3"/>
          <p:cNvSpPr/>
          <p:nvPr/>
        </p:nvSpPr>
        <p:spPr>
          <a:xfrm>
            <a:off x="548640" y="1463040"/>
            <a:ext cx="10607040" cy="1371600"/>
          </a:xfrm>
          <a:prstGeom prst="rect">
            <a:avLst/>
          </a:prstGeom>
          <a:noFill/>
          <a:ln/>
        </p:spPr>
        <p:txBody>
          <a:bodyPr wrap="square" lIns="0" tIns="0" rIns="0" bIns="0" rtlCol="0" anchor="ctr"/>
          <a:lstStyle/>
          <a:p>
            <a:pPr indent="0" marL="0">
              <a:lnSpc>
                <a:spcPct val="105000"/>
              </a:lnSpc>
              <a:buNone/>
            </a:pPr>
            <a:r>
              <a:rPr lang="en-US" sz="3000" b="1" dirty="0">
                <a:solidFill>
                  <a:srgbClr val="FFFFFF"/>
                </a:solidFill>
                <a:latin typeface="Arial" pitchFamily="34" charset="0"/>
                <a:ea typeface="Arial" pitchFamily="34" charset="-122"/>
                <a:cs typeface="Arial" pitchFamily="34" charset="-120"/>
              </a:rPr>
              <a:t>A researcher can reshape what a reader sees in real time — without costing them their place.</a:t>
            </a:r>
            <a:endParaRPr lang="en-US" sz="3000" dirty="0"/>
          </a:p>
        </p:txBody>
      </p:sp>
      <p:sp>
        <p:nvSpPr>
          <p:cNvPr id="6" name="Text 4"/>
          <p:cNvSpPr/>
          <p:nvPr/>
        </p:nvSpPr>
        <p:spPr>
          <a:xfrm>
            <a:off x="548640" y="3200400"/>
            <a:ext cx="10424160" cy="1097280"/>
          </a:xfrm>
          <a:prstGeom prst="rect">
            <a:avLst/>
          </a:prstGeom>
          <a:noFill/>
          <a:ln/>
        </p:spPr>
        <p:txBody>
          <a:bodyPr wrap="square" lIns="0" tIns="0" rIns="0" bIns="0" rtlCol="0" anchor="ctr"/>
          <a:lstStyle/>
          <a:p>
            <a:pPr indent="0" marL="0">
              <a:lnSpc>
                <a:spcPct val="120000"/>
              </a:lnSpc>
              <a:buNone/>
            </a:pPr>
            <a:r>
              <a:rPr lang="en-US" sz="1700" dirty="0">
                <a:solidFill>
                  <a:srgbClr val="DDE3F2"/>
                </a:solidFill>
                <a:latin typeface="Arial" pitchFamily="34" charset="0"/>
                <a:ea typeface="Arial" pitchFamily="34" charset="-122"/>
                <a:cs typeface="Arial" pitchFamily="34" charset="-120"/>
              </a:rPr>
              <a:t>And every part of that loop is replaceable without touching the core. We proved the seams hold under a real 90 Hz Tobii loop, and distilled four design principles for the studies that follow.</a:t>
            </a:r>
            <a:endParaRPr lang="en-US" sz="1700" dirty="0"/>
          </a:p>
        </p:txBody>
      </p:sp>
      <p:sp>
        <p:nvSpPr>
          <p:cNvPr id="7" name="Shape 5"/>
          <p:cNvSpPr/>
          <p:nvPr/>
        </p:nvSpPr>
        <p:spPr>
          <a:xfrm>
            <a:off x="566928" y="4572000"/>
            <a:ext cx="2194560" cy="0"/>
          </a:xfrm>
          <a:prstGeom prst="line">
            <a:avLst/>
          </a:prstGeom>
          <a:noFill/>
          <a:ln w="38100">
            <a:solidFill>
              <a:srgbClr val="990000"/>
            </a:solidFill>
            <a:prstDash val="solid"/>
          </a:ln>
        </p:spPr>
      </p:sp>
      <p:sp>
        <p:nvSpPr>
          <p:cNvPr id="8" name="Text 6"/>
          <p:cNvSpPr/>
          <p:nvPr/>
        </p:nvSpPr>
        <p:spPr>
          <a:xfrm>
            <a:off x="548640" y="4800600"/>
            <a:ext cx="10058400" cy="50292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Thank you — we welcome your questions.</a:t>
            </a:r>
            <a:endParaRPr lang="en-US" sz="1900" dirty="0"/>
          </a:p>
        </p:txBody>
      </p:sp>
      <p:sp>
        <p:nvSpPr>
          <p:cNvPr id="9" name="Text 7"/>
          <p:cNvSpPr/>
          <p:nvPr/>
        </p:nvSpPr>
        <p:spPr>
          <a:xfrm>
            <a:off x="548640" y="6126480"/>
            <a:ext cx="10972800" cy="365760"/>
          </a:xfrm>
          <a:prstGeom prst="rect">
            <a:avLst/>
          </a:prstGeom>
          <a:noFill/>
          <a:ln/>
        </p:spPr>
        <p:txBody>
          <a:bodyPr wrap="square" lIns="0" tIns="0" rIns="0" bIns="0" rtlCol="0" anchor="ctr"/>
          <a:lstStyle/>
          <a:p>
            <a:pPr indent="0" marL="0">
              <a:buNone/>
            </a:pPr>
            <a:r>
              <a:rPr lang="en-US" sz="1150" dirty="0">
                <a:solidFill>
                  <a:srgbClr val="8E99B5"/>
                </a:solidFill>
                <a:latin typeface="Arial" pitchFamily="34" charset="0"/>
                <a:ea typeface="Arial" pitchFamily="34" charset="-122"/>
                <a:cs typeface="Arial" pitchFamily="34" charset="-120"/>
              </a:rPr>
              <a:t>With thanks to our supervisor and the Reading the Reader programme at DTU Compute (Novo Nordisk Foundation).</a:t>
            </a:r>
            <a:endParaRPr lang="en-US" sz="1150" dirty="0"/>
          </a:p>
        </p:txBody>
      </p:sp>
      <p:sp>
        <p:nvSpPr>
          <p:cNvPr id="11" name="Text 8"/>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9AA3B2"/>
                </a:solidFill>
                <a:latin typeface="Arial" pitchFamily="34" charset="0"/>
                <a:ea typeface="Arial" pitchFamily="34" charset="-122"/>
                <a:cs typeface="Arial" pitchFamily="34" charset="-120"/>
              </a:rPr>
              <a:t>Reading the Reader · MSc Thesis Defense</a:t>
            </a:r>
            <a:endParaRPr lang="en-US" sz="900" dirty="0"/>
          </a:p>
        </p:txBody>
      </p:sp>
      <p:sp>
        <p:nvSpPr>
          <p:cNvPr id="12" name="Text 9"/>
          <p:cNvSpPr/>
          <p:nvPr/>
        </p:nvSpPr>
        <p:spPr>
          <a:xfrm>
            <a:off x="11091672" y="6473952"/>
            <a:ext cx="548640" cy="274320"/>
          </a:xfrm>
          <a:prstGeom prst="rect">
            <a:avLst/>
          </a:prstGeom>
          <a:noFill/>
          <a:ln/>
        </p:spPr>
        <p:txBody>
          <a:bodyPr wrap="square" lIns="0" tIns="0" rIns="0" bIns="0" rtlCol="0" anchor="ctr"/>
          <a:lstStyle/>
          <a:p>
            <a:pPr algn="r" indent="0" marL="0">
              <a:buNone/>
            </a:pPr>
            <a:r>
              <a:rPr lang="en-US" sz="900" dirty="0">
                <a:solidFill>
                  <a:srgbClr val="9AA3B2"/>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20624"/>
            <a:ext cx="11091672" cy="274320"/>
          </a:xfrm>
          <a:prstGeom prst="rect">
            <a:avLst/>
          </a:prstGeom>
          <a:noFill/>
          <a:ln/>
        </p:spPr>
        <p:txBody>
          <a:bodyPr wrap="square" lIns="0" tIns="0" rIns="0" bIns="0" rtlCol="0" anchor="ctr"/>
          <a:lstStyle/>
          <a:p>
            <a:pPr indent="0" marL="0">
              <a:buNone/>
            </a:pPr>
            <a:r>
              <a:rPr lang="en-US" sz="1150" b="1" spc="200" kern="0" dirty="0">
                <a:solidFill>
                  <a:srgbClr val="6B7280"/>
                </a:solidFill>
                <a:latin typeface="Arial" pitchFamily="34" charset="0"/>
                <a:ea typeface="Arial" pitchFamily="34" charset="-122"/>
                <a:cs typeface="Arial" pitchFamily="34" charset="-120"/>
              </a:rPr>
              <a:t>BACKUP · FOR Q&amp;A   ·   METHOD</a:t>
            </a:r>
            <a:endParaRPr lang="en-US" sz="1150" dirty="0"/>
          </a:p>
        </p:txBody>
      </p:sp>
      <p:sp>
        <p:nvSpPr>
          <p:cNvPr id="3" name="Text 1"/>
          <p:cNvSpPr/>
          <p:nvPr/>
        </p:nvSpPr>
        <p:spPr>
          <a:xfrm>
            <a:off x="548640" y="676656"/>
            <a:ext cx="11091672" cy="731520"/>
          </a:xfrm>
          <a:prstGeom prst="rect">
            <a:avLst/>
          </a:prstGeom>
          <a:noFill/>
          <a:ln/>
        </p:spPr>
        <p:txBody>
          <a:bodyPr wrap="square" lIns="0" tIns="0" rIns="0" bIns="0" rtlCol="0" anchor="t"/>
          <a:lstStyle/>
          <a:p>
            <a:pPr indent="0" marL="0">
              <a:buNone/>
            </a:pPr>
            <a:r>
              <a:rPr lang="en-US" sz="2700" b="1" dirty="0">
                <a:solidFill>
                  <a:srgbClr val="1A1A1A"/>
                </a:solidFill>
                <a:latin typeface="Arial" pitchFamily="34" charset="0"/>
                <a:ea typeface="Arial" pitchFamily="34" charset="-122"/>
                <a:cs typeface="Arial" pitchFamily="34" charset="-120"/>
              </a:rPr>
              <a:t>Fixation detection: I-AOI / dwell-based</a:t>
            </a:r>
            <a:endParaRPr lang="en-US" sz="2700" dirty="0"/>
          </a:p>
        </p:txBody>
      </p:sp>
      <p:sp>
        <p:nvSpPr>
          <p:cNvPr id="4" name="Text 2"/>
          <p:cNvSpPr/>
          <p:nvPr/>
        </p:nvSpPr>
        <p:spPr>
          <a:xfrm>
            <a:off x="548640" y="1737360"/>
            <a:ext cx="6766560" cy="2743200"/>
          </a:xfrm>
          <a:prstGeom prst="rect">
            <a:avLst/>
          </a:prstGeom>
          <a:noFill/>
          <a:ln/>
        </p:spPr>
        <p:txBody>
          <a:bodyPr wrap="square" rtlCol="0" anchor="t"/>
          <a:lstStyle/>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Fixations are identified by dwell within areas of interest (I-AOI), not by a velocity threshold.</a:t>
            </a:r>
            <a:endParaRPr lang="en-US" sz="1450" dirty="0"/>
          </a:p>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This is explicitly NOT I-DT or I-VT — there is no velocity- or dispersion-threshold classifier in the pipeline.</a:t>
            </a:r>
            <a:endParaRPr lang="en-US" sz="1450" dirty="0"/>
          </a:p>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The analysis port abstracts the identification algorithm, so an I-DT/I-VT identifier could be substituted behind the same contract.</a:t>
            </a:r>
            <a:endParaRPr lang="en-US" sz="1450" dirty="0"/>
          </a:p>
        </p:txBody>
      </p:sp>
      <p:pic>
        <p:nvPicPr>
          <p:cNvPr id="5" name="Image 0" descr="/private/tmp/claude-501/-Users-sachinbaral-Masters-Thesis-reading-the-reader-monorepo/02f0224a-f714-4962-9dde-d5ef8518d867/scratchpad/deck-assets/loop.png">    </p:cNvPr>
          <p:cNvPicPr>
            <a:picLocks noChangeAspect="1"/>
          </p:cNvPicPr>
          <p:nvPr/>
        </p:nvPicPr>
        <p:blipFill>
          <a:blip r:embed="rId1"/>
          <a:stretch>
            <a:fillRect/>
          </a:stretch>
        </p:blipFill>
        <p:spPr>
          <a:xfrm>
            <a:off x="7589520" y="1554480"/>
            <a:ext cx="3460606" cy="4572000"/>
          </a:xfrm>
          <a:prstGeom prst="rect">
            <a:avLst/>
          </a:prstGeom>
        </p:spPr>
      </p:pic>
      <p:sp>
        <p:nvSpPr>
          <p:cNvPr id="7" name="Text 3"/>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Reading the Reader · MSc Thesis Defense</a:t>
            </a:r>
            <a:endParaRPr lang="en-US" sz="900" dirty="0"/>
          </a:p>
        </p:txBody>
      </p:sp>
      <p:sp>
        <p:nvSpPr>
          <p:cNvPr id="8" name="Text 4"/>
          <p:cNvSpPr/>
          <p:nvPr/>
        </p:nvSpPr>
        <p:spPr>
          <a:xfrm>
            <a:off x="11091672" y="6473952"/>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20624"/>
            <a:ext cx="11091672" cy="274320"/>
          </a:xfrm>
          <a:prstGeom prst="rect">
            <a:avLst/>
          </a:prstGeom>
          <a:noFill/>
          <a:ln/>
        </p:spPr>
        <p:txBody>
          <a:bodyPr wrap="square" lIns="0" tIns="0" rIns="0" bIns="0" rtlCol="0" anchor="ctr"/>
          <a:lstStyle/>
          <a:p>
            <a:pPr indent="0" marL="0">
              <a:buNone/>
            </a:pPr>
            <a:r>
              <a:rPr lang="en-US" sz="1150" b="1" spc="200" kern="0" dirty="0">
                <a:solidFill>
                  <a:srgbClr val="6B7280"/>
                </a:solidFill>
                <a:latin typeface="Arial" pitchFamily="34" charset="0"/>
                <a:ea typeface="Arial" pitchFamily="34" charset="-122"/>
                <a:cs typeface="Arial" pitchFamily="34" charset="-120"/>
              </a:rPr>
              <a:t>BACKUP · FOR Q&amp;A   ·   METHOD</a:t>
            </a:r>
            <a:endParaRPr lang="en-US" sz="1150" dirty="0"/>
          </a:p>
        </p:txBody>
      </p:sp>
      <p:sp>
        <p:nvSpPr>
          <p:cNvPr id="3" name="Text 1"/>
          <p:cNvSpPr/>
          <p:nvPr/>
        </p:nvSpPr>
        <p:spPr>
          <a:xfrm>
            <a:off x="548640" y="676656"/>
            <a:ext cx="11091672" cy="731520"/>
          </a:xfrm>
          <a:prstGeom prst="rect">
            <a:avLst/>
          </a:prstGeom>
          <a:noFill/>
          <a:ln/>
        </p:spPr>
        <p:txBody>
          <a:bodyPr wrap="square" lIns="0" tIns="0" rIns="0" bIns="0" rtlCol="0" anchor="t"/>
          <a:lstStyle/>
          <a:p>
            <a:pPr indent="0" marL="0">
              <a:buNone/>
            </a:pPr>
            <a:r>
              <a:rPr lang="en-US" sz="2700" b="1" dirty="0">
                <a:solidFill>
                  <a:srgbClr val="1A1A1A"/>
                </a:solidFill>
                <a:latin typeface="Arial" pitchFamily="34" charset="0"/>
                <a:ea typeface="Arial" pitchFamily="34" charset="-122"/>
                <a:cs typeface="Arial" pitchFamily="34" charset="-120"/>
              </a:rPr>
              <a:t>Line assignment: a 'poor-man's Kalman filter'</a:t>
            </a:r>
            <a:endParaRPr lang="en-US" sz="2700" dirty="0"/>
          </a:p>
        </p:txBody>
      </p:sp>
      <p:sp>
        <p:nvSpPr>
          <p:cNvPr id="4" name="Text 2"/>
          <p:cNvSpPr/>
          <p:nvPr/>
        </p:nvSpPr>
        <p:spPr>
          <a:xfrm>
            <a:off x="548640" y="1737360"/>
            <a:ext cx="10058400" cy="2743200"/>
          </a:xfrm>
          <a:prstGeom prst="rect">
            <a:avLst/>
          </a:prstGeom>
          <a:noFill/>
          <a:ln/>
        </p:spPr>
        <p:txBody>
          <a:bodyPr wrap="square" rtlCol="0" anchor="t"/>
          <a:lstStyle/>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Mapping a gaze sample to a text line uses a small hysteresis: the previously chosen line gets a fixed discount before re-selection.</a:t>
            </a:r>
            <a:endParaRPr lang="en-US" sz="1450" dirty="0"/>
          </a:p>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This biases toward continuity and suppresses jitter at line boundaries without a full probabilistic tracker.</a:t>
            </a:r>
            <a:endParaRPr lang="en-US" sz="1450" dirty="0"/>
          </a:p>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We frame it candidly as a 'poor-man's Kalman filter' — cheap, legible, and a natural extension point toward real filtering.</a:t>
            </a:r>
            <a:endParaRPr lang="en-US" sz="1450" dirty="0"/>
          </a:p>
        </p:txBody>
      </p:sp>
      <p:sp>
        <p:nvSpPr>
          <p:cNvPr id="6" name="Text 3"/>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Reading the Reader · MSc Thesis Defense</a:t>
            </a:r>
            <a:endParaRPr lang="en-US" sz="900" dirty="0"/>
          </a:p>
        </p:txBody>
      </p:sp>
      <p:sp>
        <p:nvSpPr>
          <p:cNvPr id="7" name="Text 4"/>
          <p:cNvSpPr/>
          <p:nvPr/>
        </p:nvSpPr>
        <p:spPr>
          <a:xfrm>
            <a:off x="11091672" y="6473952"/>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20624"/>
            <a:ext cx="11091672" cy="274320"/>
          </a:xfrm>
          <a:prstGeom prst="rect">
            <a:avLst/>
          </a:prstGeom>
          <a:noFill/>
          <a:ln/>
        </p:spPr>
        <p:txBody>
          <a:bodyPr wrap="square" lIns="0" tIns="0" rIns="0" bIns="0" rtlCol="0" anchor="ctr"/>
          <a:lstStyle/>
          <a:p>
            <a:pPr indent="0" marL="0">
              <a:buNone/>
            </a:pPr>
            <a:r>
              <a:rPr lang="en-US" sz="1150" b="1" spc="200" kern="0" dirty="0">
                <a:solidFill>
                  <a:srgbClr val="6B7280"/>
                </a:solidFill>
                <a:latin typeface="Arial" pitchFamily="34" charset="0"/>
                <a:ea typeface="Arial" pitchFamily="34" charset="-122"/>
                <a:cs typeface="Arial" pitchFamily="34" charset="-120"/>
              </a:rPr>
              <a:t>BACKUP · FOR Q&amp;A   ·   PERFORMANCE</a:t>
            </a:r>
            <a:endParaRPr lang="en-US" sz="1150" dirty="0"/>
          </a:p>
        </p:txBody>
      </p:sp>
      <p:sp>
        <p:nvSpPr>
          <p:cNvPr id="3" name="Text 1"/>
          <p:cNvSpPr/>
          <p:nvPr/>
        </p:nvSpPr>
        <p:spPr>
          <a:xfrm>
            <a:off x="548640" y="676656"/>
            <a:ext cx="11091672" cy="731520"/>
          </a:xfrm>
          <a:prstGeom prst="rect">
            <a:avLst/>
          </a:prstGeom>
          <a:noFill/>
          <a:ln/>
        </p:spPr>
        <p:txBody>
          <a:bodyPr wrap="square" lIns="0" tIns="0" rIns="0" bIns="0" rtlCol="0" anchor="t"/>
          <a:lstStyle/>
          <a:p>
            <a:pPr indent="0" marL="0">
              <a:buNone/>
            </a:pPr>
            <a:r>
              <a:rPr lang="en-US" sz="2700" b="1" dirty="0">
                <a:solidFill>
                  <a:srgbClr val="1A1A1A"/>
                </a:solidFill>
                <a:latin typeface="Arial" pitchFamily="34" charset="0"/>
                <a:ea typeface="Arial" pitchFamily="34" charset="-122"/>
                <a:cs typeface="Arial" pitchFamily="34" charset="-120"/>
              </a:rPr>
              <a:t>Latency: hot path vs control path</a:t>
            </a:r>
            <a:endParaRPr lang="en-US" sz="2700" dirty="0"/>
          </a:p>
        </p:txBody>
      </p:sp>
      <p:sp>
        <p:nvSpPr>
          <p:cNvPr id="4" name="Shape 2"/>
          <p:cNvSpPr/>
          <p:nvPr/>
        </p:nvSpPr>
        <p:spPr>
          <a:xfrm>
            <a:off x="530352" y="1719072"/>
            <a:ext cx="5522976" cy="3064589"/>
          </a:xfrm>
          <a:prstGeom prst="rect">
            <a:avLst/>
          </a:prstGeom>
          <a:solidFill>
            <a:srgbClr val="FFFFFF"/>
          </a:solidFill>
          <a:ln w="12700">
            <a:solidFill>
              <a:srgbClr val="D6DAE2"/>
            </a:solidFill>
            <a:prstDash val="solid"/>
          </a:ln>
          <a:effectLst>
            <a:outerShdw sx="100000" sy="100000" kx="0" ky="0" algn="bl" rotWithShape="0" blurRad="88900" dist="38100" dir="5400000">
              <a:srgbClr val="000000">
                <a:alpha val="12000"/>
              </a:srgbClr>
            </a:outerShdw>
          </a:effectLst>
        </p:spPr>
      </p:sp>
      <p:pic>
        <p:nvPicPr>
          <p:cNvPr id="5" name="Image 0" descr="/private/tmp/claude-501/-Users-sachinbaral-Masters-Thesis-reading-the-reader-monorepo/02f0224a-f714-4962-9dde-d5ef8518d867/scratchpad/deck-assets/eval-client-rtt.png">    </p:cNvPr>
          <p:cNvPicPr>
            <a:picLocks noChangeAspect="1"/>
          </p:cNvPicPr>
          <p:nvPr/>
        </p:nvPicPr>
        <p:blipFill>
          <a:blip r:embed="rId1"/>
          <a:stretch>
            <a:fillRect/>
          </a:stretch>
        </p:blipFill>
        <p:spPr>
          <a:xfrm>
            <a:off x="548640" y="1737360"/>
            <a:ext cx="5486400" cy="3028013"/>
          </a:xfrm>
          <a:prstGeom prst="rect">
            <a:avLst/>
          </a:prstGeom>
        </p:spPr>
      </p:pic>
      <p:sp>
        <p:nvSpPr>
          <p:cNvPr id="6" name="Text 3"/>
          <p:cNvSpPr/>
          <p:nvPr/>
        </p:nvSpPr>
        <p:spPr>
          <a:xfrm>
            <a:off x="6035040" y="1783080"/>
            <a:ext cx="5605272" cy="2926080"/>
          </a:xfrm>
          <a:prstGeom prst="rect">
            <a:avLst/>
          </a:prstGeom>
          <a:noFill/>
          <a:ln/>
        </p:spPr>
        <p:txBody>
          <a:bodyPr wrap="square" rtlCol="0" anchor="t"/>
          <a:lstStyle/>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Gaze travels a thin real-time channel: sanitise, retain latest, broadcast — no session lock.</a:t>
            </a:r>
            <a:endParaRPr lang="en-US" sz="1450" dirty="0"/>
          </a:p>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Analysis/decision/intervention run on the lower-frequency control path, off the per-sample hot path.</a:t>
            </a:r>
            <a:endParaRPr lang="en-US" sz="1450" dirty="0"/>
          </a:p>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Client transport latency stayed within the 100 ms budget for every sample across the sessions.</a:t>
            </a:r>
            <a:endParaRPr lang="en-US" sz="1450" dirty="0"/>
          </a:p>
        </p:txBody>
      </p:sp>
      <p:sp>
        <p:nvSpPr>
          <p:cNvPr id="8" name="Text 4"/>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Reading the Reader · MSc Thesis Defense</a:t>
            </a:r>
            <a:endParaRPr lang="en-US" sz="900" dirty="0"/>
          </a:p>
        </p:txBody>
      </p:sp>
      <p:sp>
        <p:nvSpPr>
          <p:cNvPr id="9" name="Text 5"/>
          <p:cNvSpPr/>
          <p:nvPr/>
        </p:nvSpPr>
        <p:spPr>
          <a:xfrm>
            <a:off x="11091672" y="6473952"/>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20624"/>
            <a:ext cx="11091672" cy="274320"/>
          </a:xfrm>
          <a:prstGeom prst="rect">
            <a:avLst/>
          </a:prstGeom>
          <a:noFill/>
          <a:ln/>
        </p:spPr>
        <p:txBody>
          <a:bodyPr wrap="square" lIns="0" tIns="0" rIns="0" bIns="0" rtlCol="0" anchor="ctr"/>
          <a:lstStyle/>
          <a:p>
            <a:pPr indent="0" marL="0">
              <a:buNone/>
            </a:pPr>
            <a:r>
              <a:rPr lang="en-US" sz="1150" b="1" spc="200" kern="0" dirty="0">
                <a:solidFill>
                  <a:srgbClr val="6B7280"/>
                </a:solidFill>
                <a:latin typeface="Arial" pitchFamily="34" charset="0"/>
                <a:ea typeface="Arial" pitchFamily="34" charset="-122"/>
                <a:cs typeface="Arial" pitchFamily="34" charset="-120"/>
              </a:rPr>
              <a:t>BACKUP · FOR Q&amp;A   ·   SCOPE</a:t>
            </a:r>
            <a:endParaRPr lang="en-US" sz="1150" dirty="0"/>
          </a:p>
        </p:txBody>
      </p:sp>
      <p:sp>
        <p:nvSpPr>
          <p:cNvPr id="3" name="Text 1"/>
          <p:cNvSpPr/>
          <p:nvPr/>
        </p:nvSpPr>
        <p:spPr>
          <a:xfrm>
            <a:off x="548640" y="676656"/>
            <a:ext cx="11091672" cy="731520"/>
          </a:xfrm>
          <a:prstGeom prst="rect">
            <a:avLst/>
          </a:prstGeom>
          <a:noFill/>
          <a:ln/>
        </p:spPr>
        <p:txBody>
          <a:bodyPr wrap="square" lIns="0" tIns="0" rIns="0" bIns="0" rtlCol="0" anchor="t"/>
          <a:lstStyle/>
          <a:p>
            <a:pPr indent="0" marL="0">
              <a:buNone/>
            </a:pPr>
            <a:r>
              <a:rPr lang="en-US" sz="2700" b="1" dirty="0">
                <a:solidFill>
                  <a:srgbClr val="1A1A1A"/>
                </a:solidFill>
                <a:latin typeface="Arial" pitchFamily="34" charset="0"/>
                <a:ea typeface="Arial" pitchFamily="34" charset="-122"/>
                <a:cs typeface="Arial" pitchFamily="34" charset="-120"/>
              </a:rPr>
              <a:t>Why Markdown, and not PDF</a:t>
            </a:r>
            <a:endParaRPr lang="en-US" sz="2700" dirty="0"/>
          </a:p>
        </p:txBody>
      </p:sp>
      <p:sp>
        <p:nvSpPr>
          <p:cNvPr id="4" name="Text 2"/>
          <p:cNvSpPr/>
          <p:nvPr/>
        </p:nvSpPr>
        <p:spPr>
          <a:xfrm>
            <a:off x="548640" y="1737360"/>
            <a:ext cx="10058400" cy="2743200"/>
          </a:xfrm>
          <a:prstGeom prst="rect">
            <a:avLst/>
          </a:prstGeom>
          <a:noFill/>
          <a:ln/>
        </p:spPr>
        <p:txBody>
          <a:bodyPr wrap="square" rtlCol="0" anchor="t"/>
          <a:lstStyle/>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Reading material is Markdown only; PDF is explicitly out of scope (a stated constraint).</a:t>
            </a:r>
            <a:endParaRPr lang="en-US" sz="1450" dirty="0"/>
          </a:p>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Markdown reflows cleanly, which is what makes live typographic adaptation and position anchoring tractable.</a:t>
            </a:r>
            <a:endParaRPr lang="en-US" sz="1450" dirty="0"/>
          </a:p>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Fixed-layout PDF would fight reflow and the context-preserving commit, adding scope without serving the research questions.</a:t>
            </a:r>
            <a:endParaRPr lang="en-US" sz="1450" dirty="0"/>
          </a:p>
        </p:txBody>
      </p:sp>
      <p:sp>
        <p:nvSpPr>
          <p:cNvPr id="6" name="Text 3"/>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Reading the Reader · MSc Thesis Defense</a:t>
            </a:r>
            <a:endParaRPr lang="en-US" sz="900" dirty="0"/>
          </a:p>
        </p:txBody>
      </p:sp>
      <p:sp>
        <p:nvSpPr>
          <p:cNvPr id="7" name="Text 4"/>
          <p:cNvSpPr/>
          <p:nvPr/>
        </p:nvSpPr>
        <p:spPr>
          <a:xfrm>
            <a:off x="11091672" y="6473952"/>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20624"/>
            <a:ext cx="11091672" cy="274320"/>
          </a:xfrm>
          <a:prstGeom prst="rect">
            <a:avLst/>
          </a:prstGeom>
          <a:noFill/>
          <a:ln/>
        </p:spPr>
        <p:txBody>
          <a:bodyPr wrap="square" lIns="0" tIns="0" rIns="0" bIns="0" rtlCol="0" anchor="ctr"/>
          <a:lstStyle/>
          <a:p>
            <a:pPr indent="0" marL="0">
              <a:buNone/>
            </a:pPr>
            <a:r>
              <a:rPr lang="en-US" sz="1150" b="1" spc="200" kern="0" dirty="0">
                <a:solidFill>
                  <a:srgbClr val="6B7280"/>
                </a:solidFill>
                <a:latin typeface="Arial" pitchFamily="34" charset="0"/>
                <a:ea typeface="Arial" pitchFamily="34" charset="-122"/>
                <a:cs typeface="Arial" pitchFamily="34" charset="-120"/>
              </a:rPr>
              <a:t>BACKUP · FOR Q&amp;A   ·   ROBUSTNESS</a:t>
            </a:r>
            <a:endParaRPr lang="en-US" sz="1150" dirty="0"/>
          </a:p>
        </p:txBody>
      </p:sp>
      <p:sp>
        <p:nvSpPr>
          <p:cNvPr id="3" name="Text 1"/>
          <p:cNvSpPr/>
          <p:nvPr/>
        </p:nvSpPr>
        <p:spPr>
          <a:xfrm>
            <a:off x="548640" y="676656"/>
            <a:ext cx="11091672" cy="731520"/>
          </a:xfrm>
          <a:prstGeom prst="rect">
            <a:avLst/>
          </a:prstGeom>
          <a:noFill/>
          <a:ln/>
        </p:spPr>
        <p:txBody>
          <a:bodyPr wrap="square" lIns="0" tIns="0" rIns="0" bIns="0" rtlCol="0" anchor="t"/>
          <a:lstStyle/>
          <a:p>
            <a:pPr indent="0" marL="0">
              <a:buNone/>
            </a:pPr>
            <a:r>
              <a:rPr lang="en-US" sz="2700" b="1" dirty="0">
                <a:solidFill>
                  <a:srgbClr val="1A1A1A"/>
                </a:solidFill>
                <a:latin typeface="Arial" pitchFamily="34" charset="0"/>
                <a:ea typeface="Arial" pitchFamily="34" charset="-122"/>
                <a:cs typeface="Arial" pitchFamily="34" charset="-120"/>
              </a:rPr>
              <a:t>Checkpointing and recovery</a:t>
            </a:r>
            <a:endParaRPr lang="en-US" sz="2700" dirty="0"/>
          </a:p>
        </p:txBody>
      </p:sp>
      <p:sp>
        <p:nvSpPr>
          <p:cNvPr id="4" name="Shape 2"/>
          <p:cNvSpPr/>
          <p:nvPr/>
        </p:nvSpPr>
        <p:spPr>
          <a:xfrm>
            <a:off x="530352" y="1764792"/>
            <a:ext cx="5066462" cy="4059936"/>
          </a:xfrm>
          <a:prstGeom prst="rect">
            <a:avLst/>
          </a:prstGeom>
          <a:solidFill>
            <a:srgbClr val="FFFFFF"/>
          </a:solidFill>
          <a:ln w="12700">
            <a:solidFill>
              <a:srgbClr val="D6DAE2"/>
            </a:solidFill>
            <a:prstDash val="solid"/>
          </a:ln>
          <a:effectLst>
            <a:outerShdw sx="100000" sy="100000" kx="0" ky="0" algn="bl" rotWithShape="0" blurRad="88900" dist="38100" dir="5400000">
              <a:srgbClr val="000000">
                <a:alpha val="12000"/>
              </a:srgbClr>
            </a:outerShdw>
          </a:effectLst>
        </p:spPr>
      </p:sp>
      <p:pic>
        <p:nvPicPr>
          <p:cNvPr id="5" name="Image 0" descr="/private/tmp/claude-501/-Users-sachinbaral-Masters-Thesis-reading-the-reader-monorepo/02f0224a-f714-4962-9dde-d5ef8518d867/scratchpad/deck-assets/session-lifecycle.png">    </p:cNvPr>
          <p:cNvPicPr>
            <a:picLocks noChangeAspect="1"/>
          </p:cNvPicPr>
          <p:nvPr/>
        </p:nvPicPr>
        <p:blipFill>
          <a:blip r:embed="rId1"/>
          <a:stretch>
            <a:fillRect/>
          </a:stretch>
        </p:blipFill>
        <p:spPr>
          <a:xfrm>
            <a:off x="548640" y="1783080"/>
            <a:ext cx="5029886" cy="4023360"/>
          </a:xfrm>
          <a:prstGeom prst="rect">
            <a:avLst/>
          </a:prstGeom>
        </p:spPr>
      </p:pic>
      <p:sp>
        <p:nvSpPr>
          <p:cNvPr id="6" name="Text 3"/>
          <p:cNvSpPr/>
          <p:nvPr/>
        </p:nvSpPr>
        <p:spPr>
          <a:xfrm>
            <a:off x="6492240" y="1783080"/>
            <a:ext cx="5148072" cy="2926080"/>
          </a:xfrm>
          <a:prstGeom prst="rect">
            <a:avLst/>
          </a:prstGeom>
          <a:noFill/>
          <a:ln/>
        </p:spPr>
        <p:txBody>
          <a:bodyPr wrap="square" rtlCol="0" anchor="t"/>
          <a:lstStyle/>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Every state-changing step writes a checkpoint while holding the session lock.</a:t>
            </a:r>
            <a:endParaRPr lang="en-US" sz="1450" dirty="0"/>
          </a:p>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A background worker also persists the session at a fixed interval and at shutdown.</a:t>
            </a:r>
            <a:endParaRPr lang="en-US" sz="1450" dirty="0"/>
          </a:p>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Checkpointing is best-effort: it swallows its own failures so durability can never halt a live session.</a:t>
            </a:r>
            <a:endParaRPr lang="en-US" sz="1450" dirty="0"/>
          </a:p>
        </p:txBody>
      </p:sp>
      <p:sp>
        <p:nvSpPr>
          <p:cNvPr id="8" name="Text 4"/>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Reading the Reader · MSc Thesis Defense</a:t>
            </a:r>
            <a:endParaRPr lang="en-US" sz="900" dirty="0"/>
          </a:p>
        </p:txBody>
      </p:sp>
      <p:sp>
        <p:nvSpPr>
          <p:cNvPr id="9" name="Text 5"/>
          <p:cNvSpPr/>
          <p:nvPr/>
        </p:nvSpPr>
        <p:spPr>
          <a:xfrm>
            <a:off x="11091672" y="6473952"/>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20624"/>
            <a:ext cx="11091672" cy="274320"/>
          </a:xfrm>
          <a:prstGeom prst="rect">
            <a:avLst/>
          </a:prstGeom>
          <a:noFill/>
          <a:ln/>
        </p:spPr>
        <p:txBody>
          <a:bodyPr wrap="square" lIns="0" tIns="0" rIns="0" bIns="0" rtlCol="0" anchor="ctr"/>
          <a:lstStyle/>
          <a:p>
            <a:pPr indent="0" marL="0">
              <a:buNone/>
            </a:pPr>
            <a:r>
              <a:rPr lang="en-US" sz="1150" b="1" spc="200" kern="0" dirty="0">
                <a:solidFill>
                  <a:srgbClr val="6B7280"/>
                </a:solidFill>
                <a:latin typeface="Arial" pitchFamily="34" charset="0"/>
                <a:ea typeface="Arial" pitchFamily="34" charset="-122"/>
                <a:cs typeface="Arial" pitchFamily="34" charset="-120"/>
              </a:rPr>
              <a:t>BACKUP · FOR Q&amp;A   ·   INTEGRATION</a:t>
            </a:r>
            <a:endParaRPr lang="en-US" sz="1150" dirty="0"/>
          </a:p>
        </p:txBody>
      </p:sp>
      <p:sp>
        <p:nvSpPr>
          <p:cNvPr id="3" name="Text 1"/>
          <p:cNvSpPr/>
          <p:nvPr/>
        </p:nvSpPr>
        <p:spPr>
          <a:xfrm>
            <a:off x="548640" y="676656"/>
            <a:ext cx="11091672" cy="731520"/>
          </a:xfrm>
          <a:prstGeom prst="rect">
            <a:avLst/>
          </a:prstGeom>
          <a:noFill/>
          <a:ln/>
        </p:spPr>
        <p:txBody>
          <a:bodyPr wrap="square" lIns="0" tIns="0" rIns="0" bIns="0" rtlCol="0" anchor="t"/>
          <a:lstStyle/>
          <a:p>
            <a:pPr indent="0" marL="0">
              <a:buNone/>
            </a:pPr>
            <a:r>
              <a:rPr lang="en-US" sz="2700" b="1" dirty="0">
                <a:solidFill>
                  <a:srgbClr val="1A1A1A"/>
                </a:solidFill>
                <a:latin typeface="Arial" pitchFamily="34" charset="0"/>
                <a:ea typeface="Arial" pitchFamily="34" charset="-122"/>
                <a:cs typeface="Arial" pitchFamily="34" charset="-120"/>
              </a:rPr>
              <a:t>What crosses the provider seam</a:t>
            </a:r>
            <a:endParaRPr lang="en-US" sz="2700" dirty="0"/>
          </a:p>
        </p:txBody>
      </p:sp>
      <p:pic>
        <p:nvPicPr>
          <p:cNvPr id="4" name="Image 0" descr="/private/tmp/claude-501/-Users-sachinbaral-Masters-Thesis-reading-the-reader-monorepo/02f0224a-f714-4962-9dde-d5ef8518d867/scratchpad/deck-assets/seam.png">    </p:cNvPr>
          <p:cNvPicPr>
            <a:picLocks noChangeAspect="1"/>
          </p:cNvPicPr>
          <p:nvPr/>
        </p:nvPicPr>
        <p:blipFill>
          <a:blip r:embed="rId1"/>
          <a:stretch>
            <a:fillRect/>
          </a:stretch>
        </p:blipFill>
        <p:spPr>
          <a:xfrm>
            <a:off x="548640" y="1737360"/>
            <a:ext cx="3631942" cy="4206240"/>
          </a:xfrm>
          <a:prstGeom prst="rect">
            <a:avLst/>
          </a:prstGeom>
        </p:spPr>
      </p:pic>
      <p:sp>
        <p:nvSpPr>
          <p:cNvPr id="5" name="Text 2"/>
          <p:cNvSpPr/>
          <p:nvPr/>
        </p:nvSpPr>
        <p:spPr>
          <a:xfrm>
            <a:off x="5486400" y="1737360"/>
            <a:ext cx="6153912" cy="3108960"/>
          </a:xfrm>
          <a:prstGeom prst="rect">
            <a:avLst/>
          </a:prstGeom>
          <a:noFill/>
          <a:ln/>
        </p:spPr>
        <p:txBody>
          <a:bodyPr wrap="square" rtlCol="0" anchor="t"/>
          <a:lstStyle/>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Out: the authoritative session snapshot plus derived signals — reading focus, attention summary, oculomotor events.</a:t>
            </a:r>
            <a:endParaRPr lang="en-US" sz="1450" dirty="0"/>
          </a:p>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Back: a proposal pairing an observed signal and a short rationale with a concrete intervention (module identity + parameters).</a:t>
            </a:r>
            <a:endParaRPr lang="en-US" sz="1450" dirty="0"/>
          </a:p>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The seam fixes a vocabulary (signals in, proposal out) but never how the proposal is reached — that is what makes it pluggable.</a:t>
            </a:r>
            <a:endParaRPr lang="en-US" sz="1450" dirty="0"/>
          </a:p>
        </p:txBody>
      </p:sp>
      <p:sp>
        <p:nvSpPr>
          <p:cNvPr id="7" name="Text 3"/>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Reading the Reader · MSc Thesis Defense</a:t>
            </a:r>
            <a:endParaRPr lang="en-US" sz="900" dirty="0"/>
          </a:p>
        </p:txBody>
      </p:sp>
      <p:sp>
        <p:nvSpPr>
          <p:cNvPr id="8" name="Text 4"/>
          <p:cNvSpPr/>
          <p:nvPr/>
        </p:nvSpPr>
        <p:spPr>
          <a:xfrm>
            <a:off x="11091672" y="6473952"/>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20624"/>
            <a:ext cx="11091672" cy="274320"/>
          </a:xfrm>
          <a:prstGeom prst="rect">
            <a:avLst/>
          </a:prstGeom>
          <a:noFill/>
          <a:ln/>
        </p:spPr>
        <p:txBody>
          <a:bodyPr wrap="square" lIns="0" tIns="0" rIns="0" bIns="0" rtlCol="0" anchor="ctr"/>
          <a:lstStyle/>
          <a:p>
            <a:pPr indent="0" marL="0">
              <a:buNone/>
            </a:pPr>
            <a:r>
              <a:rPr lang="en-US" sz="1150" b="1" spc="200" kern="0" dirty="0">
                <a:solidFill>
                  <a:srgbClr val="6B7280"/>
                </a:solidFill>
                <a:latin typeface="Arial" pitchFamily="34" charset="0"/>
                <a:ea typeface="Arial" pitchFamily="34" charset="-122"/>
                <a:cs typeface="Arial" pitchFamily="34" charset="-120"/>
              </a:rPr>
              <a:t>BACKUP · FOR Q&amp;A   ·   SCOPE</a:t>
            </a:r>
            <a:endParaRPr lang="en-US" sz="1150" dirty="0"/>
          </a:p>
        </p:txBody>
      </p:sp>
      <p:sp>
        <p:nvSpPr>
          <p:cNvPr id="3" name="Text 1"/>
          <p:cNvSpPr/>
          <p:nvPr/>
        </p:nvSpPr>
        <p:spPr>
          <a:xfrm>
            <a:off x="548640" y="676656"/>
            <a:ext cx="11091672" cy="731520"/>
          </a:xfrm>
          <a:prstGeom prst="rect">
            <a:avLst/>
          </a:prstGeom>
          <a:noFill/>
          <a:ln/>
        </p:spPr>
        <p:txBody>
          <a:bodyPr wrap="square" lIns="0" tIns="0" rIns="0" bIns="0" rtlCol="0" anchor="t"/>
          <a:lstStyle/>
          <a:p>
            <a:pPr indent="0" marL="0">
              <a:buNone/>
            </a:pPr>
            <a:r>
              <a:rPr lang="en-US" sz="2700" b="1" dirty="0">
                <a:solidFill>
                  <a:srgbClr val="1A1A1A"/>
                </a:solidFill>
                <a:latin typeface="Arial" pitchFamily="34" charset="0"/>
                <a:ea typeface="Arial" pitchFamily="34" charset="-122"/>
                <a:cs typeface="Arial" pitchFamily="34" charset="-120"/>
              </a:rPr>
              <a:t>Lab participants, not clinical — by design</a:t>
            </a:r>
            <a:endParaRPr lang="en-US" sz="2700" dirty="0"/>
          </a:p>
        </p:txBody>
      </p:sp>
      <p:sp>
        <p:nvSpPr>
          <p:cNvPr id="4" name="Text 2"/>
          <p:cNvSpPr/>
          <p:nvPr/>
        </p:nvSpPr>
        <p:spPr>
          <a:xfrm>
            <a:off x="548640" y="1737360"/>
            <a:ext cx="10241280" cy="2743200"/>
          </a:xfrm>
          <a:prstGeom prst="rect">
            <a:avLst/>
          </a:prstGeom>
          <a:noFill/>
          <a:ln/>
        </p:spPr>
        <p:txBody>
          <a:bodyPr wrap="square" rtlCol="0" anchor="t"/>
          <a:lstStyle/>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Sessions used general laboratory participants, so the work validates the architecture and runtime, not a clinical outcome.</a:t>
            </a:r>
            <a:endParaRPr lang="en-US" sz="1450" dirty="0"/>
          </a:p>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The thesis builds the platform that makes adaptive-reading experiments possible; it stops short of running a definitive one.</a:t>
            </a:r>
            <a:endParaRPr lang="en-US" sz="1450" dirty="0"/>
          </a:p>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The architecture is designed to support recruited vision-impaired or dyslexic readers in future studies without core changes.</a:t>
            </a:r>
            <a:endParaRPr lang="en-US" sz="1450" dirty="0"/>
          </a:p>
        </p:txBody>
      </p:sp>
      <p:sp>
        <p:nvSpPr>
          <p:cNvPr id="6" name="Text 3"/>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Reading the Reader · MSc Thesis Defense</a:t>
            </a:r>
            <a:endParaRPr lang="en-US" sz="900" dirty="0"/>
          </a:p>
        </p:txBody>
      </p:sp>
      <p:sp>
        <p:nvSpPr>
          <p:cNvPr id="7" name="Text 4"/>
          <p:cNvSpPr/>
          <p:nvPr/>
        </p:nvSpPr>
        <p:spPr>
          <a:xfrm>
            <a:off x="11091672" y="6473952"/>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20624"/>
            <a:ext cx="11091672" cy="274320"/>
          </a:xfrm>
          <a:prstGeom prst="rect">
            <a:avLst/>
          </a:prstGeom>
          <a:noFill/>
          <a:ln/>
        </p:spPr>
        <p:txBody>
          <a:bodyPr wrap="square" lIns="0" tIns="0" rIns="0" bIns="0" rtlCol="0" anchor="ctr"/>
          <a:lstStyle/>
          <a:p>
            <a:pPr indent="0" marL="0">
              <a:buNone/>
            </a:pPr>
            <a:r>
              <a:rPr lang="en-US" sz="1150" b="1" spc="200" kern="0" dirty="0">
                <a:solidFill>
                  <a:srgbClr val="6B7280"/>
                </a:solidFill>
                <a:latin typeface="Arial" pitchFamily="34" charset="0"/>
                <a:ea typeface="Arial" pitchFamily="34" charset="-122"/>
                <a:cs typeface="Arial" pitchFamily="34" charset="-120"/>
              </a:rPr>
              <a:t>BACKUP · FOR Q&amp;A   ·   ETHICS</a:t>
            </a:r>
            <a:endParaRPr lang="en-US" sz="1150" dirty="0"/>
          </a:p>
        </p:txBody>
      </p:sp>
      <p:sp>
        <p:nvSpPr>
          <p:cNvPr id="3" name="Text 1"/>
          <p:cNvSpPr/>
          <p:nvPr/>
        </p:nvSpPr>
        <p:spPr>
          <a:xfrm>
            <a:off x="548640" y="676656"/>
            <a:ext cx="11091672" cy="731520"/>
          </a:xfrm>
          <a:prstGeom prst="rect">
            <a:avLst/>
          </a:prstGeom>
          <a:noFill/>
          <a:ln/>
        </p:spPr>
        <p:txBody>
          <a:bodyPr wrap="square" lIns="0" tIns="0" rIns="0" bIns="0" rtlCol="0" anchor="t"/>
          <a:lstStyle/>
          <a:p>
            <a:pPr indent="0" marL="0">
              <a:buNone/>
            </a:pPr>
            <a:r>
              <a:rPr lang="en-US" sz="2700" b="1" dirty="0">
                <a:solidFill>
                  <a:srgbClr val="1A1A1A"/>
                </a:solidFill>
                <a:latin typeface="Arial" pitchFamily="34" charset="0"/>
                <a:ea typeface="Arial" pitchFamily="34" charset="-122"/>
                <a:cs typeface="Arial" pitchFamily="34" charset="-120"/>
              </a:rPr>
              <a:t>Consent, data, and the participant's experience</a:t>
            </a:r>
            <a:endParaRPr lang="en-US" sz="2700" dirty="0"/>
          </a:p>
        </p:txBody>
      </p:sp>
      <p:sp>
        <p:nvSpPr>
          <p:cNvPr id="4" name="Text 2"/>
          <p:cNvSpPr/>
          <p:nvPr/>
        </p:nvSpPr>
        <p:spPr>
          <a:xfrm>
            <a:off x="548640" y="1737360"/>
            <a:ext cx="10241280" cy="2743200"/>
          </a:xfrm>
          <a:prstGeom prst="rect">
            <a:avLst/>
          </a:prstGeom>
          <a:noFill/>
          <a:ln/>
        </p:spPr>
        <p:txBody>
          <a:bodyPr wrap="square" rtlCol="0" anchor="t"/>
          <a:lstStyle/>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Participants are invited and managed by the researcher; the console gates a session behind explicit readiness before any recording.</a:t>
            </a:r>
            <a:endParaRPr lang="en-US" sz="1450" dirty="0"/>
          </a:p>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The session record is the research artifact — captured, exportable, and reproducible for later analysis.</a:t>
            </a:r>
            <a:endParaRPr lang="en-US" sz="1450" dirty="0"/>
          </a:p>
          <a:p>
            <a:pPr marL="177800" indent="-177800">
              <a:spcAft>
                <a:spcPts val="900"/>
              </a:spcAft>
              <a:buSzPct val="100000"/>
              <a:buChar char="•"/>
            </a:pPr>
            <a:r>
              <a:rPr lang="en-US" sz="1450" dirty="0">
                <a:solidFill>
                  <a:srgbClr val="1A1A1A"/>
                </a:solidFill>
                <a:latin typeface="Arial" pitchFamily="34" charset="0"/>
                <a:ea typeface="Arial" pitchFamily="34" charset="-122"/>
                <a:cs typeface="Arial" pitchFamily="34" charset="-120"/>
              </a:rPr>
              <a:t>The participant screen shows only the text; control and observation stay on the separate researcher console.</a:t>
            </a:r>
            <a:endParaRPr lang="en-US" sz="1450" dirty="0"/>
          </a:p>
        </p:txBody>
      </p:sp>
      <p:sp>
        <p:nvSpPr>
          <p:cNvPr id="6" name="Text 3"/>
          <p:cNvSpPr/>
          <p:nvPr/>
        </p:nvSpPr>
        <p:spPr>
          <a:xfrm>
            <a:off x="548640" y="6473952"/>
            <a:ext cx="54864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Reading the Reader · MSc Thesis Defense</a:t>
            </a:r>
            <a:endParaRPr lang="en-US" sz="900" dirty="0"/>
          </a:p>
        </p:txBody>
      </p:sp>
      <p:sp>
        <p:nvSpPr>
          <p:cNvPr id="7" name="Text 4"/>
          <p:cNvSpPr/>
          <p:nvPr/>
        </p:nvSpPr>
        <p:spPr>
          <a:xfrm>
            <a:off x="11091672" y="6473952"/>
            <a:ext cx="54864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Reading the Reader — MSc Thesis Defense</dc:title>
  <dc:subject>PptxGenJS Presentation</dc:subject>
  <dc:creator>Reading the Reader</dc:creator>
  <cp:lastModifiedBy>Reading the Reader</cp:lastModifiedBy>
  <cp:revision>1</cp:revision>
  <dcterms:created xsi:type="dcterms:W3CDTF">2026-06-29T17:48:58Z</dcterms:created>
  <dcterms:modified xsi:type="dcterms:W3CDTF">2026-06-29T17:48:58Z</dcterms:modified>
</cp:coreProperties>
</file>